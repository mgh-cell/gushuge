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164592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609" cy="164592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384048"/>
            <a:ext cx="502920" cy="27432"/>
          </a:xfrm>
          <a:prstGeom prst="rect">
            <a:avLst/>
          </a:prstGeom>
          <a:solidFill>
            <a:srgbClr val="B9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384048"/>
            <a:ext cx="27432" cy="502920"/>
          </a:xfrm>
          <a:prstGeom prst="rect">
            <a:avLst/>
          </a:prstGeom>
          <a:solidFill>
            <a:srgbClr val="B9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292840" y="384048"/>
            <a:ext cx="502920" cy="27432"/>
          </a:xfrm>
          <a:prstGeom prst="rect">
            <a:avLst/>
          </a:prstGeom>
          <a:solidFill>
            <a:srgbClr val="B9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92840" y="384048"/>
            <a:ext cx="27432" cy="502920"/>
          </a:xfrm>
          <a:prstGeom prst="rect">
            <a:avLst/>
          </a:prstGeom>
          <a:solidFill>
            <a:srgbClr val="B9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5961888"/>
            <a:ext cx="502920" cy="27432"/>
          </a:xfrm>
          <a:prstGeom prst="rect">
            <a:avLst/>
          </a:prstGeom>
          <a:solidFill>
            <a:srgbClr val="B9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5961888"/>
            <a:ext cx="27432" cy="502920"/>
          </a:xfrm>
          <a:prstGeom prst="rect">
            <a:avLst/>
          </a:prstGeom>
          <a:solidFill>
            <a:srgbClr val="B9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292840" y="5961888"/>
            <a:ext cx="502920" cy="27432"/>
          </a:xfrm>
          <a:prstGeom prst="rect">
            <a:avLst/>
          </a:prstGeom>
          <a:solidFill>
            <a:srgbClr val="B9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92840" y="5961888"/>
            <a:ext cx="27432" cy="502920"/>
          </a:xfrm>
          <a:prstGeom prst="rect">
            <a:avLst/>
          </a:prstGeom>
          <a:solidFill>
            <a:srgbClr val="B9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97296" y="1051560"/>
            <a:ext cx="603504" cy="603504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376">
                <a:solidFill>
                  <a:srgbClr val="FBF3DC"/>
                </a:solidFill>
                <a:latin typeface="楷体"/>
                <a:ea typeface="楷体"/>
              </a:rPr>
              <a:t>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112745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 dummy="" spc="800">
                <a:solidFill>
                  <a:srgbClr val="2E2820"/>
                </a:solidFill>
                <a:latin typeface="楷体"/>
                <a:ea typeface="楷体"/>
              </a:rPr>
              <a:t>古 书 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30368" y="2999232"/>
            <a:ext cx="1737360" cy="18288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54680"/>
            <a:ext cx="11274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dummy="">
                <a:solidFill>
                  <a:srgbClr val="8A6220"/>
                </a:solidFill>
                <a:latin typeface="楷体"/>
                <a:ea typeface="楷体"/>
              </a:rPr>
              <a:t>—— 古诗文沉浸式智能学习平台 ——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77639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dummy="">
                <a:solidFill>
                  <a:srgbClr val="5A4A38"/>
                </a:solidFill>
                <a:latin typeface="楷体"/>
                <a:ea typeface="楷体"/>
              </a:rPr>
              <a:t>以像素游戏重构古文情境 · 以文脉图鉴贯通千年意象</a:t>
            </a:r>
          </a:p>
          <a:p>
            <a:pPr algn="ctr">
              <a:lnSpc>
                <a:spcPct val="150000"/>
              </a:lnSpc>
            </a:pPr>
            <a:r>
              <a:rPr sz="1400" b="0" dummy="">
                <a:solidFill>
                  <a:srgbClr val="5A4A38"/>
                </a:solidFill>
                <a:latin typeface="楷体"/>
                <a:ea typeface="楷体"/>
              </a:rPr>
              <a:t>读 — 玩 — 练 — 览 · 四步学习闭环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94960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 dummy="">
                <a:solidFill>
                  <a:srgbClr val="5A4A38"/>
                </a:solidFill>
                <a:latin typeface="楷体"/>
                <a:ea typeface="楷体"/>
              </a:rPr>
              <a:t>本科毕业设计答辩</a:t>
            </a:r>
          </a:p>
          <a:p>
            <a:pPr algn="ctr">
              <a:lnSpc>
                <a:spcPct val="150000"/>
              </a:lnSpc>
            </a:pPr>
            <a:r>
              <a:rPr sz="1300" b="0" dummy="">
                <a:solidFill>
                  <a:srgbClr val="5A4A38"/>
                </a:solidFill>
                <a:latin typeface="楷体"/>
                <a:ea typeface="楷体"/>
              </a:rPr>
              <a:t>答辩人：XXX    指导教师：XXX    2026 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80">
                <a:solidFill>
                  <a:srgbClr val="FBF3DC"/>
                </a:solidFill>
                <a:latin typeface="楷体"/>
                <a:ea typeface="楷体"/>
              </a:rPr>
              <a:t>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5720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dummy="">
                <a:solidFill>
                  <a:srgbClr val="2E2820"/>
                </a:solidFill>
                <a:latin typeface="楷体"/>
                <a:ea typeface="楷体"/>
              </a:rPr>
              <a:t>目  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691640"/>
            <a:ext cx="420624" cy="420624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56">
                <a:solidFill>
                  <a:srgbClr val="A8412E"/>
                </a:solidFill>
                <a:latin typeface="楷体"/>
                <a:ea typeface="楷体"/>
              </a:rPr>
              <a:t>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72768" y="1737360"/>
            <a:ext cx="3977639" cy="566928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81051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dummy="">
                <a:solidFill>
                  <a:srgbClr val="2E2820"/>
                </a:solidFill>
                <a:latin typeface="楷体"/>
                <a:ea typeface="楷体"/>
              </a:rPr>
              <a:t>项目背景与研究意义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810512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 dummy="">
                <a:solidFill>
                  <a:srgbClr val="8A6220"/>
                </a:solidFill>
                <a:latin typeface="楷体"/>
                <a:ea typeface="楷体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91640"/>
            <a:ext cx="420624" cy="420624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56">
                <a:solidFill>
                  <a:srgbClr val="A8412E"/>
                </a:solidFill>
                <a:latin typeface="楷体"/>
                <a:ea typeface="楷体"/>
              </a:rPr>
              <a:t>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59168" y="1737360"/>
            <a:ext cx="3977639" cy="566928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79" y="181051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dummy="">
                <a:solidFill>
                  <a:srgbClr val="2E2820"/>
                </a:solidFill>
                <a:latin typeface="楷体"/>
                <a:ea typeface="楷体"/>
              </a:rPr>
              <a:t>需求分析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1810512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 dummy="">
                <a:solidFill>
                  <a:srgbClr val="8A6220"/>
                </a:solidFill>
                <a:latin typeface="楷体"/>
                <a:ea typeface="楷体"/>
              </a:rPr>
              <a:t>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862072"/>
            <a:ext cx="420624" cy="420624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56">
                <a:solidFill>
                  <a:srgbClr val="A8412E"/>
                </a:solidFill>
                <a:latin typeface="楷体"/>
                <a:ea typeface="楷体"/>
              </a:rPr>
              <a:t>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72768" y="2907791"/>
            <a:ext cx="3977639" cy="566928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298094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dummy="">
                <a:solidFill>
                  <a:srgbClr val="2E2820"/>
                </a:solidFill>
                <a:latin typeface="楷体"/>
                <a:ea typeface="楷体"/>
              </a:rPr>
              <a:t>系统架构设计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980944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 dummy="">
                <a:solidFill>
                  <a:srgbClr val="8A6220"/>
                </a:solidFill>
                <a:latin typeface="楷体"/>
                <a:ea typeface="楷体"/>
              </a:rPr>
              <a:t>07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862072"/>
            <a:ext cx="420624" cy="420624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56">
                <a:solidFill>
                  <a:srgbClr val="A8412E"/>
                </a:solidFill>
                <a:latin typeface="楷体"/>
                <a:ea typeface="楷体"/>
              </a:rPr>
              <a:t>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59168" y="2907791"/>
            <a:ext cx="3977639" cy="566928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79" y="298094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dummy="">
                <a:solidFill>
                  <a:srgbClr val="2E2820"/>
                </a:solidFill>
                <a:latin typeface="楷体"/>
                <a:ea typeface="楷体"/>
              </a:rPr>
              <a:t>核心功能模块实现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1320" y="2980944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 dummy="">
                <a:solidFill>
                  <a:srgbClr val="8A6220"/>
                </a:solidFill>
                <a:latin typeface="楷体"/>
                <a:ea typeface="楷体"/>
              </a:rPr>
              <a:t>08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032504"/>
            <a:ext cx="420624" cy="420624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56">
                <a:solidFill>
                  <a:srgbClr val="A8412E"/>
                </a:solidFill>
                <a:latin typeface="楷体"/>
                <a:ea typeface="楷体"/>
              </a:rPr>
              <a:t>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72768" y="4078224"/>
            <a:ext cx="3977639" cy="566928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415137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dummy="">
                <a:solidFill>
                  <a:srgbClr val="2E2820"/>
                </a:solidFill>
                <a:latin typeface="楷体"/>
                <a:ea typeface="楷体"/>
              </a:rPr>
              <a:t>关键技术栈与创新点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4151376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 dummy="">
                <a:solidFill>
                  <a:srgbClr val="8A6220"/>
                </a:solidFill>
                <a:latin typeface="楷体"/>
                <a:ea typeface="楷体"/>
              </a:rPr>
              <a:t>11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032504"/>
            <a:ext cx="420624" cy="420624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56">
                <a:solidFill>
                  <a:srgbClr val="A8412E"/>
                </a:solidFill>
                <a:latin typeface="楷体"/>
                <a:ea typeface="楷体"/>
              </a:rPr>
              <a:t>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59168" y="4078224"/>
            <a:ext cx="3977639" cy="566928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79" y="415137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dummy="">
                <a:solidFill>
                  <a:srgbClr val="2E2820"/>
                </a:solidFill>
                <a:latin typeface="楷体"/>
                <a:ea typeface="楷体"/>
              </a:rPr>
              <a:t>系统演示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4151376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 dummy="">
                <a:solidFill>
                  <a:srgbClr val="8A6220"/>
                </a:solidFill>
                <a:latin typeface="楷体"/>
                <a:ea typeface="楷体"/>
              </a:rPr>
              <a:t>13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5202936"/>
            <a:ext cx="420624" cy="420624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56">
                <a:solidFill>
                  <a:srgbClr val="A8412E"/>
                </a:solidFill>
                <a:latin typeface="楷体"/>
                <a:ea typeface="楷体"/>
              </a:rPr>
              <a:t>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72768" y="5248655"/>
            <a:ext cx="3977639" cy="566928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83080" y="5321807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dummy="">
                <a:solidFill>
                  <a:srgbClr val="2E2820"/>
                </a:solidFill>
                <a:latin typeface="楷体"/>
                <a:ea typeface="楷体"/>
              </a:rPr>
              <a:t>测试结果与性能分析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5321807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 dummy="">
                <a:solidFill>
                  <a:srgbClr val="8A6220"/>
                </a:solidFill>
                <a:latin typeface="楷体"/>
                <a:ea typeface="楷体"/>
              </a:rPr>
              <a:t>15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5202936"/>
            <a:ext cx="420624" cy="420624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56">
                <a:solidFill>
                  <a:srgbClr val="A8412E"/>
                </a:solidFill>
                <a:latin typeface="楷体"/>
                <a:ea typeface="楷体"/>
              </a:rPr>
              <a:t>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59168" y="5248655"/>
            <a:ext cx="3977639" cy="566928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79" y="5321807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dummy="">
                <a:solidFill>
                  <a:srgbClr val="2E2820"/>
                </a:solidFill>
                <a:latin typeface="楷体"/>
                <a:ea typeface="楷体"/>
              </a:rPr>
              <a:t>总结与展望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61320" y="5321807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 dummy="">
                <a:solidFill>
                  <a:srgbClr val="8A6220"/>
                </a:solidFill>
                <a:latin typeface="楷体"/>
                <a:ea typeface="楷体"/>
              </a:rPr>
              <a:t>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>
                <a:solidFill>
                  <a:srgbClr val="FBF3DC"/>
                </a:solidFill>
                <a:latin typeface="楷体"/>
                <a:ea typeface="楷体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dummy="">
                <a:solidFill>
                  <a:srgbClr val="2E2820"/>
                </a:solidFill>
                <a:latin typeface="楷体"/>
                <a:ea typeface="楷体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dummy="">
                <a:solidFill>
                  <a:srgbClr val="8A6220"/>
                </a:solidFill>
                <a:latin typeface="楷体"/>
                <a:ea typeface="楷体"/>
              </a:rPr>
              <a:t>古诗文教学的三个现实困境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dummy="">
                <a:solidFill>
                  <a:srgbClr val="8A6220"/>
                </a:solidFill>
                <a:latin typeface="楷体"/>
                <a:ea typeface="楷体"/>
              </a:rPr>
              <a:t>古书阁 · 毕业答辩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64008" cy="402336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27632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dummy="">
                <a:solidFill>
                  <a:srgbClr val="A8412E"/>
                </a:solidFill>
                <a:latin typeface="楷体"/>
                <a:ea typeface="楷体"/>
              </a:rPr>
              <a:t>背了忘 · 忘了背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2"/>
            <a:ext cx="315468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传统古诗文学习以机械背诵为主，学生对原文情境缺乏画面感，记忆留存率低。</a:t>
            </a:r>
          </a:p>
          <a:p>
            <a:pPr algn="l">
              <a:lnSpc>
                <a:spcPct val="130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教育部统编教材古诗文篇目大幅增加，背诵与理解压力同步上升。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6304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64008" cy="402336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27632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dummy="">
                <a:solidFill>
                  <a:srgbClr val="A8412E"/>
                </a:solidFill>
                <a:latin typeface="楷体"/>
                <a:ea typeface="楷体"/>
              </a:rPr>
              <a:t>读音无把握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084832"/>
            <a:ext cx="315468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古文中多音字、通假字、生僻字密集（如「篁」「差互」「属引」），课堂跟读机会有限，学生自读时读音错误难以自查自纠。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6304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463040"/>
            <a:ext cx="64008" cy="402336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627632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dummy="">
                <a:solidFill>
                  <a:srgbClr val="A8412E"/>
                </a:solidFill>
                <a:latin typeface="楷体"/>
                <a:ea typeface="楷体"/>
              </a:rPr>
              <a:t>意象不成体系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084832"/>
            <a:ext cx="315468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「月」「水」「莲」等核心意象散落在不同篇目，单篇教学难以呈现跨篇呼应，学生无法建立系统化的文脉认知。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dummy="">
                <a:solidFill>
                  <a:srgbClr val="A8412E"/>
                </a:solidFill>
                <a:latin typeface="楷体"/>
                <a:ea typeface="楷体"/>
              </a:rPr>
              <a:t>破局思路：把课文叙事空间做成可走进的像素世界，让「阅读」变成「亲历」。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>
                <a:solidFill>
                  <a:srgbClr val="FBF3DC"/>
                </a:solidFill>
                <a:latin typeface="楷体"/>
                <a:ea typeface="楷体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dummy="">
                <a:solidFill>
                  <a:srgbClr val="2E2820"/>
                </a:solidFill>
                <a:latin typeface="楷体"/>
                <a:ea typeface="楷体"/>
              </a:rPr>
              <a:t>研究意义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dummy="">
                <a:solidFill>
                  <a:srgbClr val="8A6220"/>
                </a:solidFill>
                <a:latin typeface="楷体"/>
                <a:ea typeface="楷体"/>
              </a:rPr>
              <a:t>教学价值 × 技术价值 双线并进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dummy="">
                <a:solidFill>
                  <a:srgbClr val="8A6220"/>
                </a:solidFill>
                <a:latin typeface="楷体"/>
                <a:ea typeface="楷体"/>
              </a:rPr>
              <a:t>古书阁 · 毕业答辩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440680" cy="429768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12">
                <a:solidFill>
                  <a:srgbClr val="FBF3DC"/>
                </a:solidFill>
                <a:latin typeface="楷体"/>
                <a:ea typeface="楷体"/>
              </a:rPr>
              <a:t>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71907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dummy="">
                <a:solidFill>
                  <a:srgbClr val="A8412E"/>
                </a:solidFill>
                <a:latin typeface="楷体"/>
                <a:ea typeface="楷体"/>
              </a:rPr>
              <a:t>教学价值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22576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2240280"/>
            <a:ext cx="466344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dummy="">
                <a:solidFill>
                  <a:srgbClr val="2E2820"/>
                </a:solidFill>
                <a:latin typeface="楷体"/>
                <a:ea typeface="楷体"/>
              </a:rPr>
              <a:t>情境化学习：七篇课文的叙事空间（小石潭、桃花源、承天寺庭院…）直接做成可探索场景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054096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2971800"/>
            <a:ext cx="466344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dummy="">
                <a:solidFill>
                  <a:srgbClr val="2E2820"/>
                </a:solidFill>
                <a:latin typeface="楷体"/>
                <a:ea typeface="楷体"/>
              </a:rPr>
              <a:t>闭环式巩固：「读—玩—练—览」四步闭环 + 错题二刷，错—练—会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785615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3703320"/>
            <a:ext cx="466344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dummy="">
                <a:solidFill>
                  <a:srgbClr val="2E2820"/>
                </a:solidFill>
                <a:latin typeface="楷体"/>
                <a:ea typeface="楷体"/>
              </a:rPr>
              <a:t>游戏化激励：稀有装备式意象收集仪式 + 学分金榜，变被动背诵为主动探索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63040"/>
            <a:ext cx="5440680" cy="429768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169164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12">
                <a:solidFill>
                  <a:srgbClr val="FBF3DC"/>
                </a:solidFill>
                <a:latin typeface="楷体"/>
                <a:ea typeface="楷体"/>
              </a:rPr>
              <a:t>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71907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dummy="">
                <a:solidFill>
                  <a:srgbClr val="A8412E"/>
                </a:solidFill>
                <a:latin typeface="楷体"/>
                <a:ea typeface="楷体"/>
              </a:rPr>
              <a:t>技术价值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2322576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240280"/>
            <a:ext cx="466344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dummy="">
                <a:solidFill>
                  <a:srgbClr val="2E2820"/>
                </a:solidFill>
                <a:latin typeface="楷体"/>
                <a:ea typeface="楷体"/>
              </a:rPr>
              <a:t>零依赖架构：原生 HTML/CSS/JS 实现全部功能，无第三方框架，可维护性强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3054096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971800"/>
            <a:ext cx="466344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dummy="">
                <a:solidFill>
                  <a:srgbClr val="2E2820"/>
                </a:solidFill>
                <a:latin typeface="楷体"/>
                <a:ea typeface="楷体"/>
              </a:rPr>
              <a:t>单文件分发：整站打包为一个 &lt; 1MB 的 HTML，微信转发即开即用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3785615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3703320"/>
            <a:ext cx="466344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dummy="">
                <a:solidFill>
                  <a:srgbClr val="2E2820"/>
                </a:solidFill>
                <a:latin typeface="楷体"/>
                <a:ea typeface="楷体"/>
              </a:rPr>
              <a:t>优雅降级：有后端走云同步，无后端自动切换本地单机，体验无损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 dummy="">
                <a:solidFill>
                  <a:srgbClr val="8A6220"/>
                </a:solidFill>
                <a:latin typeface="楷体"/>
                <a:ea typeface="楷体"/>
              </a:rPr>
              <a:t>定位：一款可像电子资料一样在班级群里流转的古文学习工具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>
                <a:solidFill>
                  <a:srgbClr val="FBF3DC"/>
                </a:solidFill>
                <a:latin typeface="楷体"/>
                <a:ea typeface="楷体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dummy="">
                <a:solidFill>
                  <a:srgbClr val="2E2820"/>
                </a:solidFill>
                <a:latin typeface="楷体"/>
                <a:ea typeface="楷体"/>
              </a:rPr>
              <a:t>需求分析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dummy="">
                <a:solidFill>
                  <a:srgbClr val="8A6220"/>
                </a:solidFill>
                <a:latin typeface="楷体"/>
                <a:ea typeface="楷体"/>
              </a:rPr>
              <a:t>用户画像与功能需求拆解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dummy="">
                <a:solidFill>
                  <a:srgbClr val="8A6220"/>
                </a:solidFill>
                <a:latin typeface="楷体"/>
                <a:ea typeface="楷体"/>
              </a:rPr>
              <a:t>古书阁 · 毕业答辩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11201400" cy="155448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2763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dummy="">
                <a:solidFill>
                  <a:srgbClr val="A8412E"/>
                </a:solidFill>
                <a:latin typeface="楷体"/>
                <a:ea typeface="楷体"/>
              </a:rPr>
              <a:t>目标用户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2996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初中生（12–15 岁）：看懂原文、读准字音、理解文意、应对默写考查</a:t>
            </a:r>
          </a:p>
          <a:p>
            <a:pPr algn="l">
              <a:lnSpc>
                <a:spcPct val="135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语文教师：布置与检查诵读任务，查看学情；古文爱好者：轻松入门重温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46120"/>
            <a:ext cx="1554480" cy="566928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364991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dummy="">
                <a:solidFill>
                  <a:srgbClr val="FBF3DC"/>
                </a:solidFill>
                <a:latin typeface="楷体"/>
                <a:ea typeface="楷体"/>
              </a:rPr>
              <a:t>学习闭环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3246120"/>
            <a:ext cx="9509760" cy="566928"/>
          </a:xfrm>
          <a:prstGeom prst="rect">
            <a:avLst/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333756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七篇像素冒险游戏：场景探索 → 点亮句读 → NPC 讲解 → 闯关考试 → 朱印卷轴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04487"/>
            <a:ext cx="1554480" cy="566928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23359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dummy="">
                <a:solidFill>
                  <a:srgbClr val="FBF3DC"/>
                </a:solidFill>
                <a:latin typeface="楷体"/>
                <a:ea typeface="楷体"/>
              </a:rPr>
              <a:t>练习巩固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3904487"/>
            <a:ext cx="9509760" cy="566928"/>
          </a:xfrm>
          <a:prstGeom prst="rect">
            <a:avLst/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3995927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百题坊：选择/默写/句读/听写四题型，错题自动收录、答对销账、支持二刷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62855"/>
            <a:ext cx="1554480" cy="566928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681727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dummy="">
                <a:solidFill>
                  <a:srgbClr val="FBF3DC"/>
                </a:solidFill>
                <a:latin typeface="楷体"/>
                <a:ea typeface="楷体"/>
              </a:rPr>
              <a:t>知识体系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4562855"/>
            <a:ext cx="9509760" cy="566928"/>
          </a:xfrm>
          <a:prstGeom prst="rect">
            <a:avLst/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23160" y="4654295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文脉图鉴：七作者时空轴 + 六意象（月/水/莲/桃源/山/猿声）跨篇图谱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21223"/>
            <a:ext cx="1554480" cy="566928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340095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dummy="">
                <a:solidFill>
                  <a:srgbClr val="FBF3DC"/>
                </a:solidFill>
                <a:latin typeface="楷体"/>
                <a:ea typeface="楷体"/>
              </a:rPr>
              <a:t>激励反馈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5221223"/>
            <a:ext cx="9509760" cy="566928"/>
          </a:xfrm>
          <a:prstGeom prst="rect">
            <a:avLst/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23160" y="5312663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意象收集仪式（音效+动态卡片）、学分金榜、我的书案学习档案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879591"/>
            <a:ext cx="1554480" cy="566928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998463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dummy="">
                <a:solidFill>
                  <a:srgbClr val="FBF3DC"/>
                </a:solidFill>
                <a:latin typeface="楷体"/>
                <a:ea typeface="楷体"/>
              </a:rPr>
              <a:t>辅助系统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94560" y="5879591"/>
            <a:ext cx="9509760" cy="566928"/>
          </a:xfrm>
          <a:prstGeom prst="rect">
            <a:avLst/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5971031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注册登录/游客三态、真人感朗读引擎、进度云同步与本地降级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>
                <a:solidFill>
                  <a:srgbClr val="FBF3DC"/>
                </a:solidFill>
                <a:latin typeface="楷体"/>
                <a:ea typeface="楷体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dummy="">
                <a:solidFill>
                  <a:srgbClr val="2E2820"/>
                </a:solidFill>
                <a:latin typeface="楷体"/>
                <a:ea typeface="楷体"/>
              </a:rPr>
              <a:t>需求分析 · 非功能指标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dummy="">
                <a:solidFill>
                  <a:srgbClr val="8A6220"/>
                </a:solidFill>
                <a:latin typeface="楷体"/>
                <a:ea typeface="楷体"/>
              </a:rPr>
              <a:t>性能、兼容与体验约束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dummy="">
                <a:solidFill>
                  <a:srgbClr val="8A6220"/>
                </a:solidFill>
                <a:latin typeface="楷体"/>
                <a:ea typeface="楷体"/>
              </a:rPr>
              <a:t>古书阁 · 毕业答辩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64008" cy="210312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73351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dummy="">
                <a:solidFill>
                  <a:srgbClr val="A8412E"/>
                </a:solidFill>
                <a:latin typeface="楷体"/>
                <a:ea typeface="楷体"/>
              </a:rPr>
              <a:t>性能指标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30552"/>
            <a:ext cx="3154680" cy="1325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整站单文件 &lt; 1MB</a:t>
            </a:r>
          </a:p>
          <a:p>
            <a:pPr algn="l">
              <a:lnSpc>
                <a:spcPct val="130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页面首屏 &lt; 1s（本地）</a:t>
            </a:r>
          </a:p>
          <a:p>
            <a:pPr algn="l">
              <a:lnSpc>
                <a:spcPct val="130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游戏渲染稳定 60fps</a:t>
            </a:r>
          </a:p>
          <a:p>
            <a:pPr algn="l">
              <a:lnSpc>
                <a:spcPct val="130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朗读句间停顿 150–300ms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0876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508760"/>
            <a:ext cx="64008" cy="210312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1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dummy="">
                <a:solidFill>
                  <a:srgbClr val="A8412E"/>
                </a:solidFill>
                <a:latin typeface="楷体"/>
                <a:ea typeface="楷体"/>
              </a:rPr>
              <a:t>兼容性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130552"/>
            <a:ext cx="3154680" cy="1325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Edge / Chrome / Safari</a:t>
            </a:r>
          </a:p>
          <a:p>
            <a:pPr algn="l">
              <a:lnSpc>
                <a:spcPct val="130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电脑 / 平板 / 手机触屏</a:t>
            </a:r>
          </a:p>
          <a:p>
            <a:pPr algn="l">
              <a:lnSpc>
                <a:spcPct val="130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微信内置浏览器可用</a:t>
            </a:r>
          </a:p>
          <a:p>
            <a:pPr algn="l">
              <a:lnSpc>
                <a:spcPct val="130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file:// 直开可用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0876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508760"/>
            <a:ext cx="64008" cy="210312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673351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dummy="">
                <a:solidFill>
                  <a:srgbClr val="A8412E"/>
                </a:solidFill>
                <a:latin typeface="楷体"/>
                <a:ea typeface="楷体"/>
              </a:rPr>
              <a:t>体验约束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130552"/>
            <a:ext cx="3154680" cy="1325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宣纸国风统一视觉</a:t>
            </a:r>
          </a:p>
          <a:p>
            <a:pPr algn="l">
              <a:lnSpc>
                <a:spcPct val="130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关键操作即时反馈</a:t>
            </a:r>
          </a:p>
          <a:p>
            <a:pPr algn="l">
              <a:lnSpc>
                <a:spcPct val="130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无网络也能完整学习</a:t>
            </a:r>
          </a:p>
          <a:p>
            <a:pPr algn="l">
              <a:lnSpc>
                <a:spcPct val="130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进度多设备可同步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93192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dummy="">
                <a:solidFill>
                  <a:srgbClr val="A8412E"/>
                </a:solidFill>
                <a:latin typeface="楷体"/>
                <a:ea typeface="楷体"/>
              </a:rPr>
              <a:t>学分计算规则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389120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241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17720"/>
            <a:ext cx="11201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dummy="">
                <a:solidFill>
                  <a:srgbClr val="F6D98B"/>
                </a:solidFill>
                <a:latin typeface="楷体"/>
                <a:ea typeface="楷体"/>
              </a:rPr>
              <a:t>学分 = 完卷×100 ＋ 完美卷×50 ＋ 百题作答×5 ＋ 错题掌握×8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57784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数据模型：gushi_v1（本地进度）＋ gushi_token（会话）＋ 服务端 users/sessions/events/blobs 四表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>
                <a:solidFill>
                  <a:srgbClr val="FBF3DC"/>
                </a:solidFill>
                <a:latin typeface="楷体"/>
                <a:ea typeface="楷体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dummy="">
                <a:solidFill>
                  <a:srgbClr val="2E2820"/>
                </a:solidFill>
                <a:latin typeface="楷体"/>
                <a:ea typeface="楷体"/>
              </a:rPr>
              <a:t>系统架构设计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dummy="">
                <a:solidFill>
                  <a:srgbClr val="8A6220"/>
                </a:solidFill>
                <a:latin typeface="楷体"/>
                <a:ea typeface="楷体"/>
              </a:rPr>
              <a:t>三层架构 · 三种部署形态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dummy="">
                <a:solidFill>
                  <a:srgbClr val="8A6220"/>
                </a:solidFill>
                <a:latin typeface="楷体"/>
                <a:ea typeface="楷体"/>
              </a:rPr>
              <a:t>古书阁 · 毕业答辩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19072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dummy="">
                <a:solidFill>
                  <a:srgbClr val="FBF3DC"/>
                </a:solidFill>
                <a:latin typeface="楷体"/>
                <a:ea typeface="楷体"/>
              </a:rPr>
              <a:t>表现层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463040"/>
            <a:ext cx="9052560" cy="914400"/>
          </a:xfrm>
          <a:prstGeom prst="rect">
            <a:avLst/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609344"/>
            <a:ext cx="8595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dummy="">
                <a:solidFill>
                  <a:srgbClr val="2E2820"/>
                </a:solidFill>
                <a:latin typeface="楷体"/>
                <a:ea typeface="楷体"/>
              </a:rPr>
              <a:t>首页书阁 · 七篇像素游戏 · 百题坊 · 文脉图鉴 · 我的书案 · 学分金榜（12 个页面，原生 HTML/CSS/JS）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3774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dummy="">
                <a:solidFill>
                  <a:srgbClr val="8A6220"/>
                </a:solidFill>
                <a:latin typeface="楷体"/>
                <a:ea typeface="楷体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42032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8A6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798064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dummy="">
                <a:solidFill>
                  <a:srgbClr val="FBF3DC"/>
                </a:solidFill>
                <a:latin typeface="楷体"/>
                <a:ea typeface="楷体"/>
              </a:rPr>
              <a:t>逻辑层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542032"/>
            <a:ext cx="9052560" cy="914400"/>
          </a:xfrm>
          <a:prstGeom prst="rect">
            <a:avLst/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2688336"/>
            <a:ext cx="8595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dummy="">
                <a:solidFill>
                  <a:srgbClr val="2E2820"/>
                </a:solidFill>
                <a:latin typeface="楷体"/>
                <a:ea typeface="楷体"/>
              </a:rPr>
              <a:t>游戏引擎（Canvas 2D 60fps）· 朗读引擎（Web Speech）· 音效引擎（Web Audio）· 意象收集系统 · 错题引擎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5643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dummy="">
                <a:solidFill>
                  <a:srgbClr val="8A6220"/>
                </a:solidFill>
                <a:latin typeface="楷体"/>
                <a:ea typeface="楷体"/>
              </a:rP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21024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5A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77056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dummy="">
                <a:solidFill>
                  <a:srgbClr val="FBF3DC"/>
                </a:solidFill>
                <a:latin typeface="楷体"/>
                <a:ea typeface="楷体"/>
              </a:rPr>
              <a:t>数据层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3621024"/>
            <a:ext cx="9052560" cy="914400"/>
          </a:xfrm>
          <a:prstGeom prst="rect">
            <a:avLst/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767328"/>
            <a:ext cx="8595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dummy="">
                <a:solidFill>
                  <a:srgbClr val="2E2820"/>
                </a:solidFill>
                <a:latin typeface="楷体"/>
                <a:ea typeface="楷体"/>
              </a:rPr>
              <a:t>localStorage（gushi_v1 进度/意象收藏）⇄ Python 轻后端（注册登录 / 学分 / 云同步，REST API ×7）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dummy="">
                <a:solidFill>
                  <a:srgbClr val="A8412E"/>
                </a:solidFill>
                <a:latin typeface="楷体"/>
                <a:ea typeface="楷体"/>
              </a:rPr>
              <a:t>三种部署形态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257800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376672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dummy="">
                <a:solidFill>
                  <a:srgbClr val="A8412E"/>
                </a:solidFill>
                <a:latin typeface="楷体"/>
                <a:ea typeface="楷体"/>
              </a:rPr>
              <a:t>联机版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150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dummy="">
                <a:solidFill>
                  <a:srgbClr val="5A4A38"/>
                </a:solidFill>
                <a:latin typeface="楷体"/>
                <a:ea typeface="楷体"/>
              </a:rPr>
              <a:t>python server.py</a:t>
            </a:r>
          </a:p>
          <a:p>
            <a:pPr algn="ctr">
              <a:lnSpc>
                <a:spcPct val="120000"/>
              </a:lnSpc>
            </a:pPr>
            <a:r>
              <a:rPr sz="1050" b="0" dummy="">
                <a:solidFill>
                  <a:srgbClr val="5A4A38"/>
                </a:solidFill>
                <a:latin typeface="楷体"/>
                <a:ea typeface="楷体"/>
              </a:rPr>
              <a:t>端口 5500 · 云同步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5257800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5376672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dummy="">
                <a:solidFill>
                  <a:srgbClr val="A8412E"/>
                </a:solidFill>
                <a:latin typeface="楷体"/>
                <a:ea typeface="楷体"/>
              </a:rPr>
              <a:t>静态托管版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57150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dummy="">
                <a:solidFill>
                  <a:srgbClr val="5A4A38"/>
                </a:solidFill>
                <a:latin typeface="楷体"/>
                <a:ea typeface="楷体"/>
              </a:rPr>
              <a:t>publish 目录</a:t>
            </a:r>
          </a:p>
          <a:p>
            <a:pPr algn="ctr">
              <a:lnSpc>
                <a:spcPct val="120000"/>
              </a:lnSpc>
            </a:pPr>
            <a:r>
              <a:rPr sz="1050" b="0" dummy="">
                <a:solidFill>
                  <a:srgbClr val="5A4A38"/>
                </a:solidFill>
                <a:latin typeface="楷体"/>
                <a:ea typeface="楷体"/>
              </a:rPr>
              <a:t>任意静态服务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5257800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5376672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dummy="">
                <a:solidFill>
                  <a:srgbClr val="A8412E"/>
                </a:solidFill>
                <a:latin typeface="楷体"/>
                <a:ea typeface="楷体"/>
              </a:rPr>
              <a:t>单文件版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7150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dummy="">
                <a:solidFill>
                  <a:srgbClr val="5A4A38"/>
                </a:solidFill>
                <a:latin typeface="楷体"/>
                <a:ea typeface="楷体"/>
              </a:rPr>
              <a:t>gushuge.html 897KB</a:t>
            </a:r>
          </a:p>
          <a:p>
            <a:pPr algn="ctr">
              <a:lnSpc>
                <a:spcPct val="120000"/>
              </a:lnSpc>
            </a:pPr>
            <a:r>
              <a:rPr sz="1050" b="0" dummy="">
                <a:solidFill>
                  <a:srgbClr val="5A4A38"/>
                </a:solidFill>
                <a:latin typeface="楷体"/>
                <a:ea typeface="楷体"/>
              </a:rPr>
              <a:t>微信转发即开即用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>
                <a:solidFill>
                  <a:srgbClr val="FBF3DC"/>
                </a:solidFill>
                <a:latin typeface="楷体"/>
                <a:ea typeface="楷体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dummy="">
                <a:solidFill>
                  <a:srgbClr val="2E2820"/>
                </a:solidFill>
                <a:latin typeface="楷体"/>
                <a:ea typeface="楷体"/>
              </a:rPr>
              <a:t>核心功能模块 · 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dummy="">
                <a:solidFill>
                  <a:srgbClr val="8A6220"/>
                </a:solidFill>
                <a:latin typeface="楷体"/>
                <a:ea typeface="楷体"/>
              </a:rPr>
              <a:t>「读—玩—练—览」四步学习闭环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dummy="">
                <a:solidFill>
                  <a:srgbClr val="8A6220"/>
                </a:solidFill>
                <a:latin typeface="楷体"/>
                <a:ea typeface="楷体"/>
              </a:rPr>
              <a:t>古书阁 · 毕业答辩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160020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520">
                <a:solidFill>
                  <a:srgbClr val="FBF3DC"/>
                </a:solidFill>
                <a:latin typeface="楷体"/>
                <a:ea typeface="楷体"/>
              </a:rPr>
              <a:t>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dummy="">
                <a:solidFill>
                  <a:srgbClr val="A8412E"/>
                </a:solidFill>
                <a:latin typeface="楷体"/>
                <a:ea typeface="楷体"/>
              </a:rPr>
              <a:t>真人感朗读引擎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dummy="">
                <a:solidFill>
                  <a:srgbClr val="5A4A38"/>
                </a:solidFill>
                <a:latin typeface="楷体"/>
                <a:ea typeface="楷体"/>
              </a:rPr>
              <a:t>神经网络声线优选</a:t>
            </a:r>
          </a:p>
          <a:p>
            <a:pPr algn="ctr">
              <a:lnSpc>
                <a:spcPct val="140000"/>
              </a:lnSpc>
            </a:pPr>
            <a:r>
              <a:rPr sz="1150" b="0" dummy="">
                <a:solidFill>
                  <a:srgbClr val="5A4A38"/>
                </a:solidFill>
                <a:latin typeface="楷体"/>
                <a:ea typeface="楷体"/>
              </a:rPr>
              <a:t>古文句读停顿</a:t>
            </a:r>
          </a:p>
          <a:p>
            <a:pPr algn="ctr">
              <a:lnSpc>
                <a:spcPct val="140000"/>
              </a:lnSpc>
            </a:pPr>
            <a:r>
              <a:rPr sz="1150" b="0" dummy="">
                <a:solidFill>
                  <a:srgbClr val="5A4A38"/>
                </a:solidFill>
                <a:latin typeface="楷体"/>
                <a:ea typeface="楷体"/>
              </a:rPr>
              <a:t>易错字教材级正音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291840"/>
            <a:ext cx="292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 dummy="">
                <a:solidFill>
                  <a:srgbClr val="B9861F"/>
                </a:solidFill>
                <a:latin typeface="楷体"/>
                <a:ea typeface="楷体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79" y="160020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520">
                <a:solidFill>
                  <a:srgbClr val="FBF3DC"/>
                </a:solidFill>
                <a:latin typeface="楷体"/>
                <a:ea typeface="楷体"/>
              </a:rPr>
              <a:t>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39" y="242316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39" y="260604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dummy="">
                <a:solidFill>
                  <a:srgbClr val="A8412E"/>
                </a:solidFill>
                <a:latin typeface="楷体"/>
                <a:ea typeface="楷体"/>
              </a:rPr>
              <a:t>七篇像素冒险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599" y="306324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dummy="">
                <a:solidFill>
                  <a:srgbClr val="5A4A38"/>
                </a:solidFill>
                <a:latin typeface="楷体"/>
                <a:ea typeface="楷体"/>
              </a:rPr>
              <a:t>场景探索 + 点亮句读</a:t>
            </a:r>
          </a:p>
          <a:p>
            <a:pPr algn="ctr">
              <a:lnSpc>
                <a:spcPct val="140000"/>
              </a:lnSpc>
            </a:pPr>
            <a:r>
              <a:rPr sz="1150" b="0" dummy="">
                <a:solidFill>
                  <a:srgbClr val="5A4A38"/>
                </a:solidFill>
                <a:latin typeface="楷体"/>
                <a:ea typeface="楷体"/>
              </a:rPr>
              <a:t>NPC 讲解 + 闯关考试</a:t>
            </a:r>
          </a:p>
          <a:p>
            <a:pPr algn="ctr">
              <a:lnSpc>
                <a:spcPct val="140000"/>
              </a:lnSpc>
            </a:pPr>
            <a:r>
              <a:rPr sz="1150" b="0" dummy="">
                <a:solidFill>
                  <a:srgbClr val="5A4A38"/>
                </a:solidFill>
                <a:latin typeface="楷体"/>
                <a:ea typeface="楷体"/>
              </a:rPr>
              <a:t>朱印卷轴收束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3291840"/>
            <a:ext cx="292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 dummy="">
                <a:solidFill>
                  <a:srgbClr val="B9861F"/>
                </a:solidFill>
                <a:latin typeface="楷体"/>
                <a:ea typeface="楷体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60020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520">
                <a:solidFill>
                  <a:srgbClr val="FBF3DC"/>
                </a:solidFill>
                <a:latin typeface="楷体"/>
                <a:ea typeface="楷体"/>
              </a:rPr>
              <a:t>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42316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60604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dummy="">
                <a:solidFill>
                  <a:srgbClr val="A8412E"/>
                </a:solidFill>
                <a:latin typeface="楷体"/>
                <a:ea typeface="楷体"/>
              </a:rPr>
              <a:t>百题坊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06324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dummy="">
                <a:solidFill>
                  <a:srgbClr val="5A4A38"/>
                </a:solidFill>
                <a:latin typeface="楷体"/>
                <a:ea typeface="楷体"/>
              </a:rPr>
              <a:t>选择/默写/句读/听写</a:t>
            </a:r>
          </a:p>
          <a:p>
            <a:pPr algn="ctr">
              <a:lnSpc>
                <a:spcPct val="140000"/>
              </a:lnSpc>
            </a:pPr>
            <a:r>
              <a:rPr sz="1150" b="0" dummy="">
                <a:solidFill>
                  <a:srgbClr val="5A4A38"/>
                </a:solidFill>
                <a:latin typeface="楷体"/>
                <a:ea typeface="楷体"/>
              </a:rPr>
              <a:t>错题自动收录</a:t>
            </a:r>
          </a:p>
          <a:p>
            <a:pPr algn="ctr">
              <a:lnSpc>
                <a:spcPct val="140000"/>
              </a:lnSpc>
            </a:pPr>
            <a:r>
              <a:rPr sz="1150" b="0" dummy="">
                <a:solidFill>
                  <a:srgbClr val="5A4A38"/>
                </a:solidFill>
                <a:latin typeface="楷体"/>
                <a:ea typeface="楷体"/>
              </a:rPr>
              <a:t>二刷答对销账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291840"/>
            <a:ext cx="292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 dummy="">
                <a:solidFill>
                  <a:srgbClr val="B9861F"/>
                </a:solidFill>
                <a:latin typeface="楷体"/>
                <a:ea typeface="楷体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86999" y="160020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520">
                <a:solidFill>
                  <a:srgbClr val="FBF3DC"/>
                </a:solidFill>
                <a:latin typeface="楷体"/>
                <a:ea typeface="楷体"/>
              </a:rPr>
              <a:t>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59" y="242316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59" y="260604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dummy="">
                <a:solidFill>
                  <a:srgbClr val="A8412E"/>
                </a:solidFill>
                <a:latin typeface="楷体"/>
                <a:ea typeface="楷体"/>
              </a:rPr>
              <a:t>文脉图鉴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306324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dummy="">
                <a:solidFill>
                  <a:srgbClr val="5A4A38"/>
                </a:solidFill>
                <a:latin typeface="楷体"/>
                <a:ea typeface="楷体"/>
              </a:rPr>
              <a:t>七作者时空轴</a:t>
            </a:r>
          </a:p>
          <a:p>
            <a:pPr algn="ctr">
              <a:lnSpc>
                <a:spcPct val="140000"/>
              </a:lnSpc>
            </a:pPr>
            <a:r>
              <a:rPr sz="1150" b="0" dummy="">
                <a:solidFill>
                  <a:srgbClr val="5A4A38"/>
                </a:solidFill>
                <a:latin typeface="楷体"/>
                <a:ea typeface="楷体"/>
              </a:rPr>
              <a:t>六意象跨篇图谱</a:t>
            </a:r>
          </a:p>
          <a:p>
            <a:pPr algn="ctr">
              <a:lnSpc>
                <a:spcPct val="140000"/>
              </a:lnSpc>
            </a:pPr>
            <a:r>
              <a:rPr sz="1150" b="0" dummy="">
                <a:solidFill>
                  <a:srgbClr val="5A4A38"/>
                </a:solidFill>
                <a:latin typeface="楷体"/>
                <a:ea typeface="楷体"/>
              </a:rPr>
              <a:t>意象收集入藏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120640"/>
            <a:ext cx="10972800" cy="960120"/>
          </a:xfrm>
          <a:prstGeom prst="roundRect">
            <a:avLst>
              <a:gd name="adj" fmla="val 6000"/>
            </a:avLst>
          </a:prstGeom>
          <a:solidFill>
            <a:srgbClr val="241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2180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dummy="">
                <a:solidFill>
                  <a:srgbClr val="F6D98B"/>
                </a:solidFill>
                <a:latin typeface="楷体"/>
                <a:ea typeface="楷体"/>
              </a:rPr>
              <a:t>意象收集系统贯穿全程：完成学习目标 → 稀有装备式获得仪式 → 卡片入藏图鉴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>
                <a:solidFill>
                  <a:srgbClr val="FBF3DC"/>
                </a:solidFill>
                <a:latin typeface="楷体"/>
                <a:ea typeface="楷体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dummy="">
                <a:solidFill>
                  <a:srgbClr val="2E2820"/>
                </a:solidFill>
                <a:latin typeface="楷体"/>
                <a:ea typeface="楷体"/>
              </a:rPr>
              <a:t>核心功能 ① · 七篇像素冒险游戏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dummy="">
                <a:solidFill>
                  <a:srgbClr val="8A6220"/>
                </a:solidFill>
                <a:latin typeface="楷体"/>
                <a:ea typeface="楷体"/>
              </a:rPr>
              <a:t>把课文叙事空间做成可走进的世界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dummy="">
                <a:solidFill>
                  <a:srgbClr val="8A6220"/>
                </a:solidFill>
                <a:latin typeface="楷体"/>
                <a:ea typeface="楷体"/>
              </a:rPr>
              <a:t>古书阁 · 毕业答辩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dummy="">
                <a:solidFill>
                  <a:srgbClr val="A8412E"/>
                </a:solidFill>
                <a:latin typeface="楷体"/>
                <a:ea typeface="楷体"/>
              </a:rPr>
              <a:t>《小石潭记》《桃花源记》《陋室铭》《爱莲说》《记承天寺夜游》《三峡》《答谢中书书》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56815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874519"/>
            <a:ext cx="530352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场景探索：Canvas 2D 像素渲染，480×270 逻辑分辨率 2 倍高清化，60fps 主循环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88335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606039"/>
            <a:ext cx="530352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点亮句读：点击发光热点逐句学习——正音朗读 → 释义知识卡 → 句读判定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19855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337559"/>
            <a:ext cx="530352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场景往返：每幕左右出口箭头自由往返，已点亮进度跨场景保留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151375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069079"/>
            <a:ext cx="530352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闯关考试：「先生问」选择题闯关，答错即时讲解，全对触发朱印卷轴结局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737360"/>
            <a:ext cx="5120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83080"/>
            <a:ext cx="50292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55080" y="4709159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dummy="">
                <a:solidFill>
                  <a:srgbClr val="5A4A38"/>
                </a:solidFill>
                <a:latin typeface="楷体"/>
                <a:ea typeface="楷体"/>
              </a:rPr>
              <a:t>《小石潭记》游戏场景：竹林 · 潭水 · 热点句读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983480"/>
            <a:ext cx="5029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dummy="">
                <a:solidFill>
                  <a:srgbClr val="8A6220"/>
                </a:solidFill>
                <a:latin typeface="楷体"/>
                <a:ea typeface="楷体"/>
              </a:rPr>
              <a:t>技术要点：热点系统 / 对话框打字机 / 场景状态机 / 像素角色八方向移动 / Web Audio 环境音效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>
                <a:solidFill>
                  <a:srgbClr val="FBF3DC"/>
                </a:solidFill>
                <a:latin typeface="楷体"/>
                <a:ea typeface="楷体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dummy="">
                <a:solidFill>
                  <a:srgbClr val="2E2820"/>
                </a:solidFill>
                <a:latin typeface="楷体"/>
                <a:ea typeface="楷体"/>
              </a:rPr>
              <a:t>核心功能 ②③ · 百题坊与文脉图鉴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dummy="">
                <a:solidFill>
                  <a:srgbClr val="8A6220"/>
                </a:solidFill>
                <a:latin typeface="楷体"/>
                <a:ea typeface="楷体"/>
              </a:rPr>
              <a:t>练中固 · 览中通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dummy="">
                <a:solidFill>
                  <a:srgbClr val="8A6220"/>
                </a:solidFill>
                <a:latin typeface="楷体"/>
                <a:ea typeface="楷体"/>
              </a:rPr>
              <a:t>古书阁 · 毕业答辩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dummy="">
                <a:solidFill>
                  <a:srgbClr val="A8412E"/>
                </a:solidFill>
                <a:latin typeface="楷体"/>
                <a:ea typeface="楷体"/>
              </a:rPr>
              <a:t>百题坊 · 跨篇练习场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四种题型：选择 / 默写 / 句读 / 听写</a:t>
            </a:r>
          </a:p>
          <a:p>
            <a:pPr algn="l">
              <a:lnSpc>
                <a:spcPct val="140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错题自动收录进错题本，答对即销账</a:t>
            </a:r>
          </a:p>
          <a:p>
            <a:pPr algn="l">
              <a:lnSpc>
                <a:spcPct val="140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错题二刷机制，形成「错—练—会」闭环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9476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dummy="">
                <a:solidFill>
                  <a:srgbClr val="A8412E"/>
                </a:solidFill>
                <a:latin typeface="楷体"/>
                <a:ea typeface="楷体"/>
              </a:rPr>
              <a:t>文脉图鉴 · 跨篇知识图谱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七位作者的千年文脉时空轴，点朱印观其人听其句</a:t>
            </a:r>
          </a:p>
          <a:p>
            <a:pPr algn="l">
              <a:lnSpc>
                <a:spcPct val="140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六意象卡（月/水/莲/桃源/山/猿声）跨篇呼应</a:t>
            </a:r>
          </a:p>
          <a:p>
            <a:pPr algn="l">
              <a:lnSpc>
                <a:spcPct val="140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未醒/半醒/已醒三态，导引回卷复读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508760"/>
            <a:ext cx="5303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enm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212080" cy="2926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63640" y="45720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dummy="">
                <a:solidFill>
                  <a:srgbClr val="5A4A38"/>
                </a:solidFill>
                <a:latin typeface="楷体"/>
                <a:ea typeface="楷体"/>
              </a:rPr>
              <a:t>文脉图鉴：意象卡与已藏金印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466344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t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709160"/>
            <a:ext cx="2514600" cy="1417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621792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dummy="">
                <a:solidFill>
                  <a:srgbClr val="5A4A38"/>
                </a:solidFill>
                <a:latin typeface="楷体"/>
                <a:ea typeface="楷体"/>
              </a:rPr>
              <a:t>百题坊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466344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4709160"/>
            <a:ext cx="2468880" cy="1417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06840" y="62179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dummy="">
                <a:solidFill>
                  <a:srgbClr val="5A4A38"/>
                </a:solidFill>
                <a:latin typeface="楷体"/>
                <a:ea typeface="楷体"/>
              </a:rPr>
              <a:t>我的书案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>
                <a:solidFill>
                  <a:srgbClr val="FBF3DC"/>
                </a:solidFill>
                <a:latin typeface="楷体"/>
                <a:ea typeface="楷体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dummy="">
                <a:solidFill>
                  <a:srgbClr val="2E2820"/>
                </a:solidFill>
                <a:latin typeface="楷体"/>
                <a:ea typeface="楷体"/>
              </a:rPr>
              <a:t>核心功能 ④ · 文脉意象收集系统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dummy="">
                <a:solidFill>
                  <a:srgbClr val="8A6220"/>
                </a:solidFill>
                <a:latin typeface="楷体"/>
                <a:ea typeface="楷体"/>
              </a:rPr>
              <a:t>游戏化获得仪式 · 强化学习获得感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dummy="">
                <a:solidFill>
                  <a:srgbClr val="8A6220"/>
                </a:solidFill>
                <a:latin typeface="楷体"/>
                <a:ea typeface="楷体"/>
              </a:rPr>
              <a:t>古书阁 · 毕业答辩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59" y="1508760"/>
            <a:ext cx="4937759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y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484632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59" y="4389120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dummy="">
                <a:solidFill>
                  <a:srgbClr val="5A4A38"/>
                </a:solidFill>
                <a:latin typeface="楷体"/>
                <a:ea typeface="楷体"/>
              </a:rPr>
              <a:t>意象获得卡：稀有度徽章 + 朱印「藏」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728216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6752" y="1645920"/>
            <a:ext cx="5577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触发时机：完成整篇闯关（学习目标达成）即刻触发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2404872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16752" y="2322576"/>
            <a:ext cx="5577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获得仪式：旋转金光 + 三段递进音效（光韵→宫商角徵羽→钟磬）+ 卡片盖章弹出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3081528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6752" y="2999232"/>
            <a:ext cx="5577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稀有度体系：逸品 / 极品 / 神品 / 孤品（书画品鉴等级命名）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3758184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6752" y="3675888"/>
            <a:ext cx="5577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队列状态机：一篇触发多张时逐张展示，不堆叠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4434840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6752" y="4352544"/>
            <a:ext cx="5577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入藏沉淀：卡片统一入藏文脉图鉴，盖金印+日期，书案显示「意象入藏 x/6」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5111496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16752" y="5029200"/>
            <a:ext cx="5577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零侵入集成：包装 PROG.finish 挂载，不改原游戏逻辑，功能异常互不影响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>
                <a:solidFill>
                  <a:srgbClr val="FBF3DC"/>
                </a:solidFill>
                <a:latin typeface="楷体"/>
                <a:ea typeface="楷体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dummy="">
                <a:solidFill>
                  <a:srgbClr val="2E2820"/>
                </a:solidFill>
                <a:latin typeface="楷体"/>
                <a:ea typeface="楷体"/>
              </a:rPr>
              <a:t>关键技术栈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dummy="">
                <a:solidFill>
                  <a:srgbClr val="8A6220"/>
                </a:solidFill>
                <a:latin typeface="楷体"/>
                <a:ea typeface="楷体"/>
              </a:rPr>
              <a:t>零框架依赖 · 浏览器原生能力深挖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dummy="">
                <a:solidFill>
                  <a:srgbClr val="8A6220"/>
                </a:solidFill>
                <a:latin typeface="楷体"/>
                <a:ea typeface="楷体"/>
              </a:rPr>
              <a:t>古书阁 · 毕业答辩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27632"/>
            <a:ext cx="3566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dummy="">
                <a:solidFill>
                  <a:srgbClr val="FBF3DC"/>
                </a:solidFill>
                <a:latin typeface="楷体"/>
                <a:ea typeface="楷体"/>
              </a:rPr>
              <a:t>Canvas 2D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21408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像素游戏渲染</a:t>
            </a:r>
          </a:p>
          <a:p>
            <a:pPr algn="ctr">
              <a:lnSpc>
                <a:spcPct val="135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2x 高清化 · 60fps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55448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8A6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627632"/>
            <a:ext cx="3566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dummy="">
                <a:solidFill>
                  <a:srgbClr val="FBF3DC"/>
                </a:solidFill>
                <a:latin typeface="楷体"/>
                <a:ea typeface="楷体"/>
              </a:rPr>
              <a:t>Web Speech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21408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真人感朗读引擎</a:t>
            </a:r>
          </a:p>
          <a:p>
            <a:pPr algn="ctr">
              <a:lnSpc>
                <a:spcPct val="135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声线优选·句读停顿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55448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3880" y="155448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627632"/>
            <a:ext cx="3566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dummy="">
                <a:solidFill>
                  <a:srgbClr val="FBF3DC"/>
                </a:solidFill>
                <a:latin typeface="楷体"/>
                <a:ea typeface="楷体"/>
              </a:rPr>
              <a:t>Web Audio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121408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音效合成</a:t>
            </a:r>
          </a:p>
          <a:p>
            <a:pPr algn="ctr">
              <a:lnSpc>
                <a:spcPct val="135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宫商角徵羽仪式乐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38328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338328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8A6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456432"/>
            <a:ext cx="3566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dummy="">
                <a:solidFill>
                  <a:srgbClr val="FBF3DC"/>
                </a:solidFill>
                <a:latin typeface="楷体"/>
                <a:ea typeface="楷体"/>
              </a:rPr>
              <a:t>localStorage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950208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进度/意象本地存储</a:t>
            </a:r>
          </a:p>
          <a:p>
            <a:pPr algn="ctr">
              <a:lnSpc>
                <a:spcPct val="135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断网单机可用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38328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43400" y="338328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3456432"/>
            <a:ext cx="3566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dummy="">
                <a:solidFill>
                  <a:srgbClr val="FBF3DC"/>
                </a:solidFill>
                <a:latin typeface="楷体"/>
                <a:ea typeface="楷体"/>
              </a:rPr>
              <a:t>Python 标准库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950208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轻后端 server.py</a:t>
            </a:r>
          </a:p>
          <a:p>
            <a:pPr algn="ctr">
              <a:lnSpc>
                <a:spcPct val="135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注册/学分/云同步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338328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83880" y="338328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8A6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3456432"/>
            <a:ext cx="3566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dummy="">
                <a:solidFill>
                  <a:srgbClr val="FBF3DC"/>
                </a:solidFill>
                <a:latin typeface="楷体"/>
                <a:ea typeface="楷体"/>
              </a:rPr>
              <a:t>单文件打包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950208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srcdoc iframe 路由</a:t>
            </a:r>
          </a:p>
          <a:p>
            <a:pPr algn="ctr">
              <a:lnSpc>
                <a:spcPct val="135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897KB 微信即开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4406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dummy="">
                <a:solidFill>
                  <a:srgbClr val="A8412E"/>
                </a:solidFill>
                <a:latin typeface="楷体"/>
                <a:ea typeface="楷体"/>
              </a:rPr>
              <a:t>架构原则：能原生不引入、能降级不报错、能单文件不依赖——任何环境下核心学习功能完整可用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>
                <a:solidFill>
                  <a:srgbClr val="FBF3DC"/>
                </a:solidFill>
                <a:latin typeface="楷体"/>
                <a:ea typeface="楷体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dummy="">
                <a:solidFill>
                  <a:srgbClr val="2E2820"/>
                </a:solidFill>
                <a:latin typeface="楷体"/>
                <a:ea typeface="楷体"/>
              </a:rPr>
              <a:t>创新点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dummy="">
                <a:solidFill>
                  <a:srgbClr val="8A6220"/>
                </a:solidFill>
                <a:latin typeface="楷体"/>
                <a:ea typeface="楷体"/>
              </a:rPr>
              <a:t>四项差异化设计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dummy="">
                <a:solidFill>
                  <a:srgbClr val="8A6220"/>
                </a:solidFill>
                <a:latin typeface="楷体"/>
                <a:ea typeface="楷体"/>
              </a:rPr>
              <a:t>古书阁 · 毕业答辩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709928"/>
            <a:ext cx="402336" cy="402336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84">
                <a:solidFill>
                  <a:srgbClr val="FBF3DC"/>
                </a:solidFill>
                <a:latin typeface="楷体"/>
                <a:ea typeface="楷体"/>
              </a:rPr>
              <a:t>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728216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dummy="">
                <a:solidFill>
                  <a:srgbClr val="A8412E"/>
                </a:solidFill>
                <a:latin typeface="楷体"/>
                <a:ea typeface="楷体"/>
              </a:rPr>
              <a:t>叙事空间游戏化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49377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首次将课文叙事空间（小石潭/桃花源/承天寺）1:1 重构为可探索像素场景，阅读即亲历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19088" y="1709928"/>
            <a:ext cx="402336" cy="402336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84">
                <a:solidFill>
                  <a:srgbClr val="FBF3DC"/>
                </a:solidFill>
                <a:latin typeface="楷体"/>
                <a:ea typeface="楷体"/>
              </a:rPr>
              <a:t>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1728216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dummy="">
                <a:solidFill>
                  <a:srgbClr val="A8412E"/>
                </a:solidFill>
                <a:latin typeface="楷体"/>
                <a:ea typeface="楷体"/>
              </a:rPr>
              <a:t>朗读引擎真人化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9377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声线优选打分 + 句读停顿 + 标点语调 + 教材级正音替换四重策略，解决 TTS 古文朗读机械与误读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49039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4088" y="3950207"/>
            <a:ext cx="402336" cy="402336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84">
                <a:solidFill>
                  <a:srgbClr val="FBF3DC"/>
                </a:solidFill>
                <a:latin typeface="楷体"/>
                <a:ea typeface="楷体"/>
              </a:rPr>
              <a:t>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68496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dummy="">
                <a:solidFill>
                  <a:srgbClr val="A8412E"/>
                </a:solidFill>
                <a:latin typeface="楷体"/>
                <a:ea typeface="楷体"/>
              </a:rPr>
              <a:t>意象收集仪式化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49377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稀有装备式获得仪式（音效三段递进+盖章动画）嫁接文脉意象教学，抽象概念具象为收藏成就感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49039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19088" y="3950207"/>
            <a:ext cx="402336" cy="402336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84">
                <a:solidFill>
                  <a:srgbClr val="FBF3DC"/>
                </a:solidFill>
                <a:latin typeface="楷体"/>
                <a:ea typeface="楷体"/>
              </a:rPr>
              <a:t>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59" y="3968496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dummy="">
                <a:solidFill>
                  <a:srgbClr val="A8412E"/>
                </a:solidFill>
                <a:latin typeface="楷体"/>
                <a:ea typeface="楷体"/>
              </a:rPr>
              <a:t>分发形态单文件化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26279"/>
            <a:ext cx="49377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整站 12 页打包为一个 &lt;1MB HTML，srcdoc iframe 隔离作用域+hash 路由+存储代理，微信转发即用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>
                <a:solidFill>
                  <a:srgbClr val="FBF3DC"/>
                </a:solidFill>
                <a:latin typeface="楷体"/>
                <a:ea typeface="楷体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dummy="">
                <a:solidFill>
                  <a:srgbClr val="2E2820"/>
                </a:solidFill>
                <a:latin typeface="楷体"/>
                <a:ea typeface="楷体"/>
              </a:rPr>
              <a:t>系统演示（一）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dummy="">
                <a:solidFill>
                  <a:srgbClr val="8A6220"/>
                </a:solidFill>
                <a:latin typeface="楷体"/>
                <a:ea typeface="楷体"/>
              </a:rPr>
              <a:t>书阁首页 · 游戏场景 · 意象仪式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dummy="">
                <a:solidFill>
                  <a:srgbClr val="8A6220"/>
                </a:solidFill>
                <a:latin typeface="楷体"/>
                <a:ea typeface="楷体"/>
              </a:rPr>
              <a:t>古书阁 · 毕业答辩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86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5394960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dummy="">
                <a:solidFill>
                  <a:srgbClr val="5A4A38"/>
                </a:solidFill>
                <a:latin typeface="楷体"/>
                <a:ea typeface="楷体"/>
              </a:rPr>
              <a:t>首页：宣纸国风卷轴画廊 · 七卷可展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508760"/>
            <a:ext cx="5486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54480"/>
            <a:ext cx="539496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26480" y="46634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dummy="">
                <a:solidFill>
                  <a:srgbClr val="5A4A38"/>
                </a:solidFill>
                <a:latin typeface="楷体"/>
                <a:ea typeface="楷体"/>
              </a:rPr>
              <a:t>像素冒险：场景探索与句读点亮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4754880"/>
            <a:ext cx="6217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y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4800600"/>
            <a:ext cx="6126480" cy="1600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71800" y="649224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dummy="">
                <a:solidFill>
                  <a:srgbClr val="5A4A38"/>
                </a:solidFill>
                <a:latin typeface="楷体"/>
                <a:ea typeface="楷体"/>
              </a:rPr>
              <a:t>意象获得仪式：稀有度卡片 + 朱印入藏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>
                <a:solidFill>
                  <a:srgbClr val="FBF3DC"/>
                </a:solidFill>
                <a:latin typeface="楷体"/>
                <a:ea typeface="楷体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dummy="">
                <a:solidFill>
                  <a:srgbClr val="2E2820"/>
                </a:solidFill>
                <a:latin typeface="楷体"/>
                <a:ea typeface="楷体"/>
              </a:rPr>
              <a:t>测试结果与性能分析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dummy="">
                <a:solidFill>
                  <a:srgbClr val="8A6220"/>
                </a:solidFill>
                <a:latin typeface="楷体"/>
                <a:ea typeface="楷体"/>
              </a:rPr>
              <a:t>功能测试 · 兼容性 · 性能实测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dummy="">
                <a:solidFill>
                  <a:srgbClr val="8A6220"/>
                </a:solidFill>
                <a:latin typeface="楷体"/>
                <a:ea typeface="楷体"/>
              </a:rPr>
              <a:t>古书阁 · 毕业答辩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11201400" cy="22860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dummy="">
                <a:solidFill>
                  <a:srgbClr val="A8412E"/>
                </a:solidFill>
                <a:latin typeface="楷体"/>
                <a:ea typeface="楷体"/>
              </a:rPr>
              <a:t>功能与兼容性测试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· 浏览器自动化全链路测试：七篇游戏场景往返、句读点亮、闯关考试、意象仪式、图鉴入藏 —— 全部通过</a:t>
            </a:r>
          </a:p>
          <a:p>
            <a:pPr algn="l">
              <a:lnSpc>
                <a:spcPct val="145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· 朗读引擎：分句停顿/问号语调/正音替换/停止恢复逐项核对通过，多声线（Edge 神经网络/Chrome 本地）自适应</a:t>
            </a:r>
          </a:p>
          <a:p>
            <a:pPr algn="l">
              <a:lnSpc>
                <a:spcPct val="145000"/>
              </a:lnSpc>
            </a:pPr>
            <a:r>
              <a:rPr sz="1200" b="0" dummy="">
                <a:solidFill>
                  <a:srgbClr val="5A4A38"/>
                </a:solidFill>
                <a:latin typeface="楷体"/>
                <a:ea typeface="楷体"/>
              </a:rPr>
              <a:t>· 登录系统：注册/登录/游客三态 + 后端离线本地建账降级，实测通过；Edge / Chrome / 移动端触屏兼容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02336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16052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整站体积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805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 dummy="">
                <a:solidFill>
                  <a:srgbClr val="A8412E"/>
                </a:solidFill>
                <a:latin typeface="楷体"/>
                <a:ea typeface="楷体"/>
              </a:rPr>
              <a:t>897KB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12064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dummy="">
                <a:solidFill>
                  <a:srgbClr val="8A6220"/>
                </a:solidFill>
                <a:latin typeface="楷体"/>
                <a:ea typeface="楷体"/>
              </a:rPr>
              <a:t>单文件版，微信即开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4136" y="402336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416052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首屏加载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4136" y="44805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 dummy="">
                <a:solidFill>
                  <a:srgbClr val="A8412E"/>
                </a:solidFill>
                <a:latin typeface="楷体"/>
                <a:ea typeface="楷体"/>
              </a:rPr>
              <a:t>&lt;1s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512064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dummy="">
                <a:solidFill>
                  <a:srgbClr val="8A6220"/>
                </a:solidFill>
                <a:latin typeface="楷体"/>
                <a:ea typeface="楷体"/>
              </a:rPr>
              <a:t>本地环境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402336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416052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游戏帧率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44805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 dummy="">
                <a:solidFill>
                  <a:srgbClr val="A8412E"/>
                </a:solidFill>
                <a:latin typeface="楷体"/>
                <a:ea typeface="楷体"/>
              </a:rPr>
              <a:t>60fps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512064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dummy="">
                <a:solidFill>
                  <a:srgbClr val="8A6220"/>
                </a:solidFill>
                <a:latin typeface="楷体"/>
                <a:ea typeface="楷体"/>
              </a:rPr>
              <a:t>Canvas 主循环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16568" y="402336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8" y="416052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朗读延迟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44805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 dummy="">
                <a:solidFill>
                  <a:srgbClr val="A8412E"/>
                </a:solidFill>
                <a:latin typeface="楷体"/>
                <a:ea typeface="楷体"/>
              </a:rPr>
              <a:t>150ms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512064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dummy="">
                <a:solidFill>
                  <a:srgbClr val="8A6220"/>
                </a:solidFill>
                <a:latin typeface="楷体"/>
                <a:ea typeface="楷体"/>
              </a:rPr>
              <a:t>句间停顿下限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dummy="">
                <a:solidFill>
                  <a:srgbClr val="5A4A38"/>
                </a:solidFill>
                <a:latin typeface="楷体"/>
                <a:ea typeface="楷体"/>
              </a:rPr>
              <a:t>缺陷修复闭环：箭头几何 / 朗读吞音 / 冻结等 20+ 问题均定位根因并回归验证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>
                <a:solidFill>
                  <a:srgbClr val="FBF3DC"/>
                </a:solidFill>
                <a:latin typeface="楷体"/>
                <a:ea typeface="楷体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dummy="">
                <a:solidFill>
                  <a:srgbClr val="2E2820"/>
                </a:solidFill>
                <a:latin typeface="楷体"/>
                <a:ea typeface="楷体"/>
              </a:rPr>
              <a:t>总结与展望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dummy="">
                <a:solidFill>
                  <a:srgbClr val="8A6220"/>
                </a:solidFill>
                <a:latin typeface="楷体"/>
                <a:ea typeface="楷体"/>
              </a:rPr>
              <a:t>古书阁 · 毕业答辩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440680" cy="393192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12">
                <a:solidFill>
                  <a:srgbClr val="FBF3DC"/>
                </a:solidFill>
                <a:latin typeface="楷体"/>
                <a:ea typeface="楷体"/>
              </a:rPr>
              <a:t>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1907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dummy="">
                <a:solidFill>
                  <a:srgbClr val="A8412E"/>
                </a:solidFill>
                <a:latin typeface="楷体"/>
                <a:ea typeface="楷体"/>
              </a:rPr>
              <a:t>工作总结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22576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240280"/>
            <a:ext cx="466344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完成 12 页面、7 款像素游戏、4 类题型的完整学习平台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054096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2971800"/>
            <a:ext cx="4663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构建「读—玩—练—览」闭环与意象收集激励体系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465576"/>
            <a:ext cx="4663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实现零依赖 + 三形态部署 + 优雅降级架构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63040"/>
            <a:ext cx="5440680" cy="393192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7960" y="169164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12">
                <a:solidFill>
                  <a:srgbClr val="FBF3DC"/>
                </a:solidFill>
                <a:latin typeface="楷体"/>
                <a:ea typeface="楷体"/>
              </a:rPr>
              <a:t>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71907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dummy="">
                <a:solidFill>
                  <a:srgbClr val="A8412E"/>
                </a:solidFill>
                <a:latin typeface="楷体"/>
                <a:ea typeface="楷体"/>
              </a:rPr>
              <a:t>未来展望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322576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93992" y="2240280"/>
            <a:ext cx="4663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篇目扩充：追加《岳阳楼记》《醉翁亭记》等新卷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2816352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2734056"/>
            <a:ext cx="4663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AI 助学：接入大模型生成个性化讲解与变式题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3310128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3227832"/>
            <a:ext cx="4663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班级协同：教师端布置任务、查看学情报表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803904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3721608"/>
            <a:ext cx="4663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dummy="">
                <a:solidFill>
                  <a:srgbClr val="2E2820"/>
                </a:solidFill>
                <a:latin typeface="楷体"/>
                <a:ea typeface="楷体"/>
              </a:rPr>
              <a:t>数据挖掘：基于错题与足迹的学习路径推荐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623560"/>
            <a:ext cx="11201400" cy="685800"/>
          </a:xfrm>
          <a:prstGeom prst="roundRect">
            <a:avLst>
              <a:gd name="adj" fmla="val 6000"/>
            </a:avLst>
          </a:prstGeom>
          <a:solidFill>
            <a:srgbClr val="241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779008"/>
            <a:ext cx="11201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dummy="">
                <a:solidFill>
                  <a:srgbClr val="F6D98B"/>
                </a:solidFill>
                <a:latin typeface="楷体"/>
                <a:ea typeface="楷体"/>
              </a:rPr>
              <a:t>恳请各位老师批评指正 · 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