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164592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609" cy="164592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384048"/>
            <a:ext cx="502920" cy="27432"/>
          </a:xfrm>
          <a:prstGeom prst="rect">
            <a:avLst/>
          </a:prstGeom>
          <a:solidFill>
            <a:srgbClr val="B9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384048"/>
            <a:ext cx="27432" cy="502920"/>
          </a:xfrm>
          <a:prstGeom prst="rect">
            <a:avLst/>
          </a:prstGeom>
          <a:solidFill>
            <a:srgbClr val="B9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292840" y="384048"/>
            <a:ext cx="502920" cy="27432"/>
          </a:xfrm>
          <a:prstGeom prst="rect">
            <a:avLst/>
          </a:prstGeom>
          <a:solidFill>
            <a:srgbClr val="B9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92840" y="384048"/>
            <a:ext cx="27432" cy="502920"/>
          </a:xfrm>
          <a:prstGeom prst="rect">
            <a:avLst/>
          </a:prstGeom>
          <a:solidFill>
            <a:srgbClr val="B9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5961888"/>
            <a:ext cx="502920" cy="27432"/>
          </a:xfrm>
          <a:prstGeom prst="rect">
            <a:avLst/>
          </a:prstGeom>
          <a:solidFill>
            <a:srgbClr val="B9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5961888"/>
            <a:ext cx="27432" cy="502920"/>
          </a:xfrm>
          <a:prstGeom prst="rect">
            <a:avLst/>
          </a:prstGeom>
          <a:solidFill>
            <a:srgbClr val="B9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292840" y="5961888"/>
            <a:ext cx="502920" cy="27432"/>
          </a:xfrm>
          <a:prstGeom prst="rect">
            <a:avLst/>
          </a:prstGeom>
          <a:solidFill>
            <a:srgbClr val="B9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92840" y="5961888"/>
            <a:ext cx="27432" cy="502920"/>
          </a:xfrm>
          <a:prstGeom prst="rect">
            <a:avLst/>
          </a:prstGeom>
          <a:solidFill>
            <a:srgbClr val="B9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97296" y="1051560"/>
            <a:ext cx="603504" cy="603504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375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閣</a:t>
            </a:r>
            <a:endParaRPr sz="2375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1828800"/>
            <a:ext cx="112745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 spc="800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古 书 阁</a:t>
            </a:r>
            <a:endParaRPr sz="5400" b="1" spc="800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230368" y="2999232"/>
            <a:ext cx="1737360" cy="18288"/>
          </a:xfrm>
          <a:prstGeom prst="rect">
            <a:avLst/>
          </a:prstGeom>
          <a:solidFill>
            <a:srgbClr val="CA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154680"/>
            <a:ext cx="112745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8A6220"/>
                </a:solidFill>
                <a:latin typeface="楷体" panose="02010609060101010101" charset="-122"/>
                <a:ea typeface="楷体" panose="02010609060101010101" charset="-122"/>
              </a:rPr>
              <a:t>—— 古诗文沉浸式智能学习平台 ——</a:t>
            </a:r>
            <a:endParaRPr sz="2000" b="0">
              <a:solidFill>
                <a:srgbClr val="8A62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3977639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以像素游戏重构古文情境 · 以文脉图鉴贯通千年意象</a:t>
            </a:r>
            <a:endParaRPr sz="140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读 — 玩 — 练 — 览 · 四步学习闭环</a:t>
            </a:r>
            <a:endParaRPr sz="140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5394960"/>
            <a:ext cx="11274552" cy="6915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设计答辩</a:t>
            </a:r>
            <a:endParaRPr sz="130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答辩人：</a:t>
            </a:r>
            <a:r>
              <a:rPr lang="zh-CN" sz="13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何明广</a:t>
            </a:r>
            <a:r>
              <a:rPr sz="13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        </a:t>
            </a:r>
            <a:endParaRPr sz="130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0292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80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目</a:t>
            </a:r>
            <a:endParaRPr sz="1980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88720" y="45720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目  录</a:t>
            </a:r>
            <a:endParaRPr sz="3000" b="1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183112" cy="14630"/>
          </a:xfrm>
          <a:prstGeom prst="rect">
            <a:avLst/>
          </a:prstGeom>
          <a:solidFill>
            <a:srgbClr val="CA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691640"/>
            <a:ext cx="420624" cy="420624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5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壹</a:t>
            </a:r>
            <a:endParaRPr sz="1655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572768" y="1737360"/>
            <a:ext cx="3977639" cy="566928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9525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181051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项目背景与研究意义</a:t>
            </a:r>
            <a:endParaRPr sz="1550" b="1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74920" y="1810512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>
                <a:solidFill>
                  <a:srgbClr val="8A6220"/>
                </a:solidFill>
                <a:latin typeface="楷体" panose="02010609060101010101" charset="-122"/>
                <a:ea typeface="楷体" panose="02010609060101010101" charset="-122"/>
              </a:rPr>
              <a:t>03</a:t>
            </a:r>
            <a:endParaRPr sz="1300" b="0">
              <a:solidFill>
                <a:srgbClr val="8A62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92240" y="1691640"/>
            <a:ext cx="420624" cy="420624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5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贰</a:t>
            </a:r>
            <a:endParaRPr sz="1655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059168" y="1737360"/>
            <a:ext cx="3977639" cy="566928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9525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79" y="181051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需求分析</a:t>
            </a:r>
            <a:endParaRPr sz="1550" b="1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61320" y="1810512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>
                <a:solidFill>
                  <a:srgbClr val="8A6220"/>
                </a:solidFill>
                <a:latin typeface="楷体" panose="02010609060101010101" charset="-122"/>
                <a:ea typeface="楷体" panose="02010609060101010101" charset="-122"/>
              </a:rPr>
              <a:t>05</a:t>
            </a:r>
            <a:endParaRPr sz="1300" b="0">
              <a:solidFill>
                <a:srgbClr val="8A62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005840" y="2862072"/>
            <a:ext cx="420624" cy="420624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5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叁</a:t>
            </a:r>
            <a:endParaRPr sz="1655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572768" y="2907791"/>
            <a:ext cx="3977639" cy="566928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9525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83080" y="2980944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系统架构设计</a:t>
            </a:r>
            <a:endParaRPr sz="1550" b="1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74920" y="2980944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>
                <a:solidFill>
                  <a:srgbClr val="8A6220"/>
                </a:solidFill>
                <a:latin typeface="楷体" panose="02010609060101010101" charset="-122"/>
                <a:ea typeface="楷体" panose="02010609060101010101" charset="-122"/>
              </a:rPr>
              <a:t>07</a:t>
            </a:r>
            <a:endParaRPr sz="1300" b="0">
              <a:solidFill>
                <a:srgbClr val="8A62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92240" y="2862072"/>
            <a:ext cx="420624" cy="420624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5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肆</a:t>
            </a:r>
            <a:endParaRPr sz="1655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059168" y="2907791"/>
            <a:ext cx="3977639" cy="566928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9525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79" y="2980944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核心功能模块实现</a:t>
            </a:r>
            <a:endParaRPr sz="1550" b="1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561320" y="2980944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>
                <a:solidFill>
                  <a:srgbClr val="8A6220"/>
                </a:solidFill>
                <a:latin typeface="楷体" panose="02010609060101010101" charset="-122"/>
                <a:ea typeface="楷体" panose="02010609060101010101" charset="-122"/>
              </a:rPr>
              <a:t>08</a:t>
            </a:r>
            <a:endParaRPr sz="1300" b="0">
              <a:solidFill>
                <a:srgbClr val="8A62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005840" y="4032504"/>
            <a:ext cx="420624" cy="420624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5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伍</a:t>
            </a:r>
            <a:endParaRPr sz="1655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572768" y="4078224"/>
            <a:ext cx="3977639" cy="566928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9525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83080" y="4151376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关键技术栈与创新点</a:t>
            </a:r>
            <a:endParaRPr sz="1550" b="1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74920" y="4151376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>
                <a:solidFill>
                  <a:srgbClr val="8A6220"/>
                </a:solidFill>
                <a:latin typeface="楷体" panose="02010609060101010101" charset="-122"/>
                <a:ea typeface="楷体" panose="02010609060101010101" charset="-122"/>
              </a:rPr>
              <a:t>11</a:t>
            </a:r>
            <a:endParaRPr sz="1300" b="0">
              <a:solidFill>
                <a:srgbClr val="8A62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492240" y="4032504"/>
            <a:ext cx="420624" cy="420624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5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陆</a:t>
            </a:r>
            <a:endParaRPr sz="1655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059168" y="4078224"/>
            <a:ext cx="3977639" cy="566928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9525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9479" y="4151376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系统演示</a:t>
            </a:r>
            <a:endParaRPr sz="1550" b="1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561320" y="4151376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>
                <a:solidFill>
                  <a:srgbClr val="8A6220"/>
                </a:solidFill>
                <a:latin typeface="楷体" panose="02010609060101010101" charset="-122"/>
                <a:ea typeface="楷体" panose="02010609060101010101" charset="-122"/>
              </a:rPr>
              <a:t>13</a:t>
            </a:r>
            <a:endParaRPr sz="1300" b="0">
              <a:solidFill>
                <a:srgbClr val="8A62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005840" y="5202936"/>
            <a:ext cx="420624" cy="420624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5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柒</a:t>
            </a:r>
            <a:endParaRPr sz="1655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572768" y="5248655"/>
            <a:ext cx="3977639" cy="566928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9525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83080" y="5321807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测试结果与性能分析</a:t>
            </a:r>
            <a:endParaRPr sz="1550" b="1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074920" y="5321807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>
                <a:solidFill>
                  <a:srgbClr val="8A6220"/>
                </a:solidFill>
                <a:latin typeface="楷体" panose="02010609060101010101" charset="-122"/>
                <a:ea typeface="楷体" panose="02010609060101010101" charset="-122"/>
              </a:rPr>
              <a:t>15</a:t>
            </a:r>
            <a:endParaRPr sz="1300" b="0">
              <a:solidFill>
                <a:srgbClr val="8A62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492240" y="5202936"/>
            <a:ext cx="420624" cy="420624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55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捌</a:t>
            </a:r>
            <a:endParaRPr sz="1655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7059168" y="5248655"/>
            <a:ext cx="3977639" cy="566928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9525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9479" y="5321807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总结与展望</a:t>
            </a:r>
            <a:endParaRPr sz="1550" b="1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561320" y="5321807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>
                <a:solidFill>
                  <a:srgbClr val="8A6220"/>
                </a:solidFill>
                <a:latin typeface="楷体" panose="02010609060101010101" charset="-122"/>
                <a:ea typeface="楷体" panose="02010609060101010101" charset="-122"/>
              </a:rPr>
              <a:t>16</a:t>
            </a:r>
            <a:endParaRPr sz="1300" b="0">
              <a:solidFill>
                <a:srgbClr val="8A62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03</a:t>
            </a:r>
            <a:endParaRPr sz="1800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项目背景</a:t>
            </a:r>
            <a:endParaRPr sz="2600" b="1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8686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A6220"/>
                </a:solidFill>
                <a:latin typeface="楷体" panose="02010609060101010101" charset="-122"/>
                <a:ea typeface="楷体" panose="02010609060101010101" charset="-122"/>
              </a:rPr>
              <a:t>古诗文教学的三个现实困境</a:t>
            </a:r>
            <a:endParaRPr sz="1250" b="0">
              <a:solidFill>
                <a:srgbClr val="8A62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4630"/>
          </a:xfrm>
          <a:prstGeom prst="rect">
            <a:avLst/>
          </a:prstGeom>
          <a:solidFill>
            <a:srgbClr val="CA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3611880" cy="402336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64008" cy="402336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27632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背了忘 · 忘了背</a:t>
            </a:r>
            <a:endParaRPr sz="1600" b="1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2"/>
            <a:ext cx="315468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传统古诗文学习以机械背诵为主，学生对原文情境缺乏画面感，记忆留存率低。</a:t>
            </a:r>
            <a:endParaRPr sz="12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教育部统编教材古诗文篇目大幅增加，背诵与理解压力同步上升。</a:t>
            </a:r>
            <a:endParaRPr sz="12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297680" y="1463040"/>
            <a:ext cx="3611880" cy="402336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463040"/>
            <a:ext cx="64008" cy="402336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27632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读音无把握</a:t>
            </a:r>
            <a:endParaRPr sz="1600" b="1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53712" y="2084832"/>
            <a:ext cx="315468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古文中多音字、通假字、生僻字密集（如「篁」「差互」「属引」），课堂跟读机会有限，学生自读时读音错误难以自查自纠。</a:t>
            </a:r>
            <a:endParaRPr sz="12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92440" y="1463040"/>
            <a:ext cx="3611880" cy="402336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463040"/>
            <a:ext cx="64008" cy="402336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1627632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意象不成体系</a:t>
            </a:r>
            <a:endParaRPr sz="1600" b="1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48471" y="2084832"/>
            <a:ext cx="315468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「月」「水」「莲」等核心意象散落在不同篇目，单篇教学难以呈现跨篇呼应，学生无法建立系统化的文脉认知。</a:t>
            </a:r>
            <a:endParaRPr sz="12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57607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破局思路：把课文叙事空间做成可走进的像素世界，让「阅读」变成「亲历」。</a:t>
            </a:r>
            <a:endParaRPr sz="1500" b="1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04</a:t>
            </a:r>
            <a:endParaRPr sz="1800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研究意义</a:t>
            </a:r>
            <a:endParaRPr sz="2600" b="1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8686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A6220"/>
                </a:solidFill>
                <a:latin typeface="楷体" panose="02010609060101010101" charset="-122"/>
                <a:ea typeface="楷体" panose="02010609060101010101" charset="-122"/>
              </a:rPr>
              <a:t>教学价值 × 技术价值 双线并进</a:t>
            </a:r>
            <a:endParaRPr sz="1250" b="0">
              <a:solidFill>
                <a:srgbClr val="8A62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4630"/>
          </a:xfrm>
          <a:prstGeom prst="rect">
            <a:avLst/>
          </a:prstGeom>
          <a:solidFill>
            <a:srgbClr val="CA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188720" cy="264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endParaRPr sz="900" b="0">
              <a:solidFill>
                <a:srgbClr val="8A62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5440680" cy="429768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10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教</a:t>
            </a:r>
            <a:endParaRPr sz="1510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80160" y="1719072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教学价值</a:t>
            </a:r>
            <a:endParaRPr sz="1700" b="1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77240" y="2322576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2240280"/>
            <a:ext cx="4663440" cy="8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情境化学习：七篇课文的叙事空间（小石潭、桃花源、承天寺庭院…）直接做成可探索场景</a:t>
            </a:r>
            <a:endParaRPr sz="1300" b="0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77240" y="3054096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2971800"/>
            <a:ext cx="4663440" cy="8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闭环式巩固：「读—玩—练—览」四步闭环 + 错题二刷，错—练—会</a:t>
            </a:r>
            <a:endParaRPr sz="1300" b="0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7240" y="3785615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1" y="3703320"/>
            <a:ext cx="4663440" cy="8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游戏化激励：稀有装备式意象收集仪式 + 学分金榜，变被动背诵为主动探索</a:t>
            </a:r>
            <a:endParaRPr sz="1300" b="0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63640" y="1463040"/>
            <a:ext cx="5440680" cy="429768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37960" y="1691640"/>
            <a:ext cx="384048" cy="384048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10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技</a:t>
            </a:r>
            <a:endParaRPr sz="1510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40880" y="1719072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技术价值</a:t>
            </a:r>
            <a:endParaRPr sz="1700" b="1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537960" y="2322576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2240280"/>
            <a:ext cx="4663440" cy="8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零依赖架构：原生 HTML/CSS/JS 实现全部功能，无第三方框架，可维护性强</a:t>
            </a:r>
            <a:endParaRPr sz="1300" b="0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537960" y="3054096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2971800"/>
            <a:ext cx="4663440" cy="8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单文件分发：整站打包为一个 &lt; 1MB 的 HTML，微信转发即开即用</a:t>
            </a:r>
            <a:endParaRPr sz="1300" b="0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537960" y="3785615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3703320"/>
            <a:ext cx="4663440" cy="8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优雅降级：有后端走云同步，无后端自动切换本地单机，体验无损</a:t>
            </a:r>
            <a:endParaRPr sz="1300" b="0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0">
                <a:solidFill>
                  <a:srgbClr val="8A6220"/>
                </a:solidFill>
                <a:latin typeface="楷体" panose="02010609060101010101" charset="-122"/>
                <a:ea typeface="楷体" panose="02010609060101010101" charset="-122"/>
              </a:rPr>
              <a:t>定位：一款可像电子资料一样在班级群里流转的古文学习工具</a:t>
            </a:r>
            <a:endParaRPr sz="1350" b="0">
              <a:solidFill>
                <a:srgbClr val="8A62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05</a:t>
            </a:r>
            <a:endParaRPr sz="1800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需求分析</a:t>
            </a:r>
            <a:endParaRPr sz="2600" b="1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8686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A6220"/>
                </a:solidFill>
                <a:latin typeface="楷体" panose="02010609060101010101" charset="-122"/>
                <a:ea typeface="楷体" panose="02010609060101010101" charset="-122"/>
              </a:rPr>
              <a:t>用户画像与功能需求拆解</a:t>
            </a:r>
            <a:endParaRPr sz="1250" b="0">
              <a:solidFill>
                <a:srgbClr val="8A62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4630"/>
          </a:xfrm>
          <a:prstGeom prst="rect">
            <a:avLst/>
          </a:prstGeom>
          <a:solidFill>
            <a:srgbClr val="CA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188720" cy="264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endParaRPr sz="900" b="0">
              <a:solidFill>
                <a:srgbClr val="8A62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11201400" cy="155448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2763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目标用户</a:t>
            </a:r>
            <a:endParaRPr sz="1500" b="1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029968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初中生（12–15 岁）：看懂原文、读准字音、理解文意、应对默写考查</a:t>
            </a:r>
            <a:endParaRPr sz="12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语文教师：布置与检查诵读任务，查看学情；古文爱好者：轻松入门重温</a:t>
            </a:r>
            <a:endParaRPr sz="12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3246120"/>
            <a:ext cx="1554480" cy="566928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364991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学习闭环</a:t>
            </a:r>
            <a:endParaRPr sz="1350" b="1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194560" y="3246120"/>
            <a:ext cx="9509760" cy="566928"/>
          </a:xfrm>
          <a:prstGeom prst="rect">
            <a:avLst/>
          </a:prstGeom>
          <a:solidFill>
            <a:srgbClr val="FBF3DC"/>
          </a:solidFill>
          <a:ln w="9525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333756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七篇像素冒险游戏：场景探索 → 点亮句读 → NPC 讲解 → 闯关考试 → 朱印卷轴</a:t>
            </a:r>
            <a:endParaRPr sz="1250" b="0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2920" y="3904487"/>
            <a:ext cx="1554480" cy="566928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023359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练习巩固</a:t>
            </a:r>
            <a:endParaRPr sz="1350" b="1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194560" y="3904487"/>
            <a:ext cx="9509760" cy="566928"/>
          </a:xfrm>
          <a:prstGeom prst="rect">
            <a:avLst/>
          </a:prstGeom>
          <a:solidFill>
            <a:srgbClr val="FBF3DC"/>
          </a:solidFill>
          <a:ln w="9525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3995927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百题坊：选择/默写/句读/听写四题型，错题自动收录、答对销账、支持二刷</a:t>
            </a:r>
            <a:endParaRPr sz="1250" b="0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2920" y="4562855"/>
            <a:ext cx="1554480" cy="566928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681727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知识体系</a:t>
            </a:r>
            <a:endParaRPr sz="1350" b="1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194560" y="4562855"/>
            <a:ext cx="9509760" cy="566928"/>
          </a:xfrm>
          <a:prstGeom prst="rect">
            <a:avLst/>
          </a:prstGeom>
          <a:solidFill>
            <a:srgbClr val="FBF3DC"/>
          </a:solidFill>
          <a:ln w="9525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23160" y="4654295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文脉图鉴：七作者时空轴 + 六意象（月/水/莲/桃源/山/猿声）跨篇图谱</a:t>
            </a:r>
            <a:endParaRPr sz="1250" b="0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02920" y="5221223"/>
            <a:ext cx="1554480" cy="566928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340095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激励反馈</a:t>
            </a:r>
            <a:endParaRPr sz="1350" b="1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194560" y="5221223"/>
            <a:ext cx="9509760" cy="566928"/>
          </a:xfrm>
          <a:prstGeom prst="rect">
            <a:avLst/>
          </a:prstGeom>
          <a:solidFill>
            <a:srgbClr val="FBF3DC"/>
          </a:solidFill>
          <a:ln w="9525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23160" y="5312663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意象收集仪式（音效+动态卡片）、学分金榜、我的书案学习档案</a:t>
            </a:r>
            <a:endParaRPr sz="1250" b="0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02920" y="5879591"/>
            <a:ext cx="1554480" cy="566928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998463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辅助系统</a:t>
            </a:r>
            <a:endParaRPr sz="1350" b="1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194560" y="5879591"/>
            <a:ext cx="9509760" cy="566928"/>
          </a:xfrm>
          <a:prstGeom prst="rect">
            <a:avLst/>
          </a:prstGeom>
          <a:solidFill>
            <a:srgbClr val="FBF3DC"/>
          </a:solidFill>
          <a:ln w="9525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23160" y="5971031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注册登录/游客三态、真人感朗读引擎、进度云同步与本地降级</a:t>
            </a:r>
            <a:endParaRPr sz="1250" b="0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06</a:t>
            </a:r>
            <a:endParaRPr sz="1800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需求分析 · 非功能指标</a:t>
            </a:r>
            <a:endParaRPr sz="2600" b="1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8686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A6220"/>
                </a:solidFill>
                <a:latin typeface="楷体" panose="02010609060101010101" charset="-122"/>
                <a:ea typeface="楷体" panose="02010609060101010101" charset="-122"/>
              </a:rPr>
              <a:t>性能、兼容与体验约束</a:t>
            </a:r>
            <a:endParaRPr sz="1250" b="0">
              <a:solidFill>
                <a:srgbClr val="8A62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4630"/>
          </a:xfrm>
          <a:prstGeom prst="rect">
            <a:avLst/>
          </a:prstGeom>
          <a:solidFill>
            <a:srgbClr val="CA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64008" cy="210312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73351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性能指标</a:t>
            </a:r>
            <a:endParaRPr sz="1600" b="1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8952" y="2130552"/>
            <a:ext cx="3154680" cy="1325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整站单文件 &lt; 1MB</a:t>
            </a:r>
            <a:endParaRPr sz="12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页面首屏 &lt; 1s（本地）</a:t>
            </a:r>
            <a:endParaRPr sz="12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游戏渲染稳定 60fps</a:t>
            </a:r>
            <a:endParaRPr sz="12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朗读句间停顿 150–300ms</a:t>
            </a:r>
            <a:endParaRPr sz="12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297680" y="150876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508760"/>
            <a:ext cx="64008" cy="210312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1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兼容性</a:t>
            </a:r>
            <a:endParaRPr sz="1600" b="1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53712" y="2130552"/>
            <a:ext cx="3154680" cy="1325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Edge / Chrome / Safari</a:t>
            </a:r>
            <a:endParaRPr sz="12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电脑 / 平板 / 手机触屏</a:t>
            </a:r>
            <a:endParaRPr sz="12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微信内置浏览器可用</a:t>
            </a:r>
            <a:endParaRPr sz="12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file:// 直开可用</a:t>
            </a:r>
            <a:endParaRPr sz="12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92440" y="150876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508760"/>
            <a:ext cx="64008" cy="210312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1673351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体验约束</a:t>
            </a:r>
            <a:endParaRPr sz="1600" b="1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48471" y="2130552"/>
            <a:ext cx="3154680" cy="1325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宣纸国风统一视觉</a:t>
            </a:r>
            <a:endParaRPr sz="12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关键操作即时反馈</a:t>
            </a:r>
            <a:endParaRPr sz="12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无网络也能完整学习</a:t>
            </a:r>
            <a:endParaRPr sz="12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进度多设备可同步</a:t>
            </a:r>
            <a:endParaRPr sz="12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393192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学分计算规则</a:t>
            </a:r>
            <a:endParaRPr sz="1500" b="1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4389120"/>
            <a:ext cx="11201400" cy="914400"/>
          </a:xfrm>
          <a:prstGeom prst="roundRect">
            <a:avLst>
              <a:gd name="adj" fmla="val 6000"/>
            </a:avLst>
          </a:prstGeom>
          <a:solidFill>
            <a:srgbClr val="241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617720"/>
            <a:ext cx="11201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F6D98B"/>
                </a:solidFill>
                <a:latin typeface="楷体" panose="02010609060101010101" charset="-122"/>
                <a:ea typeface="楷体" panose="02010609060101010101" charset="-122"/>
              </a:rPr>
              <a:t>学分 = 完卷×100 ＋ 完美卷×50 ＋ 百题作答×5 ＋ 错题掌握×8</a:t>
            </a:r>
            <a:endParaRPr sz="1600" b="1">
              <a:solidFill>
                <a:srgbClr val="F6D98B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" y="557784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数据模型：gushi_v1（本地进度）＋ gushi_token（会话）＋ 服务端 users/sessions/events/blobs 四表</a:t>
            </a:r>
            <a:endParaRPr sz="12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07</a:t>
            </a:r>
            <a:endParaRPr sz="1800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系统架构设计</a:t>
            </a:r>
            <a:endParaRPr sz="2600" b="1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8686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A6220"/>
                </a:solidFill>
                <a:latin typeface="楷体" panose="02010609060101010101" charset="-122"/>
                <a:ea typeface="楷体" panose="02010609060101010101" charset="-122"/>
              </a:rPr>
              <a:t>三层架构 · 三种部署形态</a:t>
            </a:r>
            <a:endParaRPr sz="1250" b="0">
              <a:solidFill>
                <a:srgbClr val="8A62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4630"/>
          </a:xfrm>
          <a:prstGeom prst="rect">
            <a:avLst/>
          </a:prstGeom>
          <a:solidFill>
            <a:srgbClr val="CA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19072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表现层</a:t>
            </a:r>
            <a:endParaRPr sz="1500" b="1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331720" y="1463040"/>
            <a:ext cx="9052560" cy="914400"/>
          </a:xfrm>
          <a:prstGeom prst="rect">
            <a:avLst/>
          </a:prstGeom>
          <a:solidFill>
            <a:srgbClr val="FBF3DC"/>
          </a:solidFill>
          <a:ln w="9525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1609344"/>
            <a:ext cx="8595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首页书阁 · 七篇像素游戏 · 百题坊 · 文脉图鉴 · 我的书案 · 学分金榜（12 个页面，原生 HTML/CSS/JS）</a:t>
            </a:r>
            <a:endParaRPr sz="1200" b="0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17320" y="23774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8A6220"/>
                </a:solidFill>
                <a:latin typeface="楷体" panose="02010609060101010101" charset="-122"/>
                <a:ea typeface="楷体" panose="02010609060101010101" charset="-122"/>
              </a:rPr>
              <a:t>▼</a:t>
            </a:r>
            <a:endParaRPr sz="1100" b="0">
              <a:solidFill>
                <a:srgbClr val="8A62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22960" y="2542032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8A6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798064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逻辑层</a:t>
            </a:r>
            <a:endParaRPr sz="1500" b="1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331720" y="2542032"/>
            <a:ext cx="9052560" cy="914400"/>
          </a:xfrm>
          <a:prstGeom prst="rect">
            <a:avLst/>
          </a:prstGeom>
          <a:solidFill>
            <a:srgbClr val="FBF3DC"/>
          </a:solidFill>
          <a:ln w="9525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2688336"/>
            <a:ext cx="8595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游戏引擎（Canvas 2D 60fps）· 朗读引擎（Web Speech）· 音效引擎（Web Audio）· 意象收集系统 · 错题引擎</a:t>
            </a:r>
            <a:endParaRPr sz="1200" b="0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17320" y="345643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8A6220"/>
                </a:solidFill>
                <a:latin typeface="楷体" panose="02010609060101010101" charset="-122"/>
                <a:ea typeface="楷体" panose="02010609060101010101" charset="-122"/>
              </a:rPr>
              <a:t>▼</a:t>
            </a:r>
            <a:endParaRPr sz="1100" b="0">
              <a:solidFill>
                <a:srgbClr val="8A62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2960" y="3621024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5A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877056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数据层</a:t>
            </a:r>
            <a:endParaRPr sz="1500" b="1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331720" y="3621024"/>
            <a:ext cx="9052560" cy="914400"/>
          </a:xfrm>
          <a:prstGeom prst="rect">
            <a:avLst/>
          </a:prstGeom>
          <a:solidFill>
            <a:srgbClr val="FBF3DC"/>
          </a:solidFill>
          <a:ln w="9525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3767328"/>
            <a:ext cx="8595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localStorage（gushi_v1 进度/意象收藏）⇄ Python 轻后端（注册登录 / 学分 / 云同步，REST API ×7）</a:t>
            </a:r>
            <a:endParaRPr sz="1200" b="0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三种部署形态</a:t>
            </a:r>
            <a:endParaRPr sz="1450" b="1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22960" y="5257800"/>
            <a:ext cx="3383280" cy="96012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376672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联机版</a:t>
            </a:r>
            <a:endParaRPr sz="1350" b="1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960" y="571500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python server.py</a:t>
            </a:r>
            <a:endParaRPr sz="10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端口 5500 · 云同步</a:t>
            </a:r>
            <a:endParaRPr sz="10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526280" y="5257800"/>
            <a:ext cx="3383280" cy="96012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5376672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静态托管版</a:t>
            </a:r>
            <a:endParaRPr sz="1350" b="1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26280" y="571500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publish 目录</a:t>
            </a:r>
            <a:endParaRPr sz="10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任意静态服务</a:t>
            </a:r>
            <a:endParaRPr sz="10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229600" y="5257800"/>
            <a:ext cx="3383280" cy="96012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5376672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单文件版</a:t>
            </a:r>
            <a:endParaRPr sz="1350" b="1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29600" y="571500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gushuge.html 897KB</a:t>
            </a:r>
            <a:endParaRPr sz="10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微信转发即开即用</a:t>
            </a:r>
            <a:endParaRPr sz="10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08</a:t>
            </a:r>
            <a:endParaRPr sz="1800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核心功能模块 · 总览</a:t>
            </a:r>
            <a:endParaRPr sz="2600" b="1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8686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A6220"/>
                </a:solidFill>
                <a:latin typeface="楷体" panose="02010609060101010101" charset="-122"/>
                <a:ea typeface="楷体" panose="02010609060101010101" charset="-122"/>
              </a:rPr>
              <a:t>「读—玩—练—览」四步学习闭环</a:t>
            </a:r>
            <a:endParaRPr sz="1250" b="0">
              <a:solidFill>
                <a:srgbClr val="8A62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4630"/>
          </a:xfrm>
          <a:prstGeom prst="rect">
            <a:avLst/>
          </a:prstGeom>
          <a:solidFill>
            <a:srgbClr val="CA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645920" y="160020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520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读</a:t>
            </a:r>
            <a:endParaRPr sz="2520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242316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真人感朗读引擎</a:t>
            </a:r>
            <a:endParaRPr sz="1500" b="1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063240"/>
            <a:ext cx="2331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神经网络声线优选</a:t>
            </a:r>
            <a:endParaRPr sz="11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ctr">
              <a:lnSpc>
                <a:spcPct val="140000"/>
              </a:lnSpc>
            </a:pPr>
            <a:r>
              <a:rPr sz="11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古文句读停顿</a:t>
            </a:r>
            <a:endParaRPr sz="11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ctr">
              <a:lnSpc>
                <a:spcPct val="140000"/>
              </a:lnSpc>
            </a:pPr>
            <a:r>
              <a:rPr sz="11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易错字教材级正音</a:t>
            </a:r>
            <a:endParaRPr sz="11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46120" y="3291840"/>
            <a:ext cx="2926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B9861F"/>
                </a:solidFill>
                <a:latin typeface="楷体" panose="02010609060101010101" charset="-122"/>
                <a:ea typeface="楷体" panose="02010609060101010101" charset="-122"/>
              </a:rPr>
              <a:t>→</a:t>
            </a:r>
            <a:endParaRPr sz="1600" b="0">
              <a:solidFill>
                <a:srgbClr val="B9861F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26279" y="160020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520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玩</a:t>
            </a:r>
            <a:endParaRPr sz="2520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520439" y="242316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39" y="2606040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七篇像素冒险</a:t>
            </a:r>
            <a:endParaRPr sz="1500" b="1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57599" y="3063240"/>
            <a:ext cx="2331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场景探索 + 点亮句读</a:t>
            </a:r>
            <a:endParaRPr sz="11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ctr">
              <a:lnSpc>
                <a:spcPct val="140000"/>
              </a:lnSpc>
            </a:pPr>
            <a:r>
              <a:rPr sz="11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NPC 讲解 + 闯关考试</a:t>
            </a:r>
            <a:endParaRPr sz="11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ctr">
              <a:lnSpc>
                <a:spcPct val="140000"/>
              </a:lnSpc>
            </a:pPr>
            <a:r>
              <a:rPr sz="11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朱印卷轴收束</a:t>
            </a:r>
            <a:endParaRPr sz="11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26479" y="3291840"/>
            <a:ext cx="2926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B9861F"/>
                </a:solidFill>
                <a:latin typeface="楷体" panose="02010609060101010101" charset="-122"/>
                <a:ea typeface="楷体" panose="02010609060101010101" charset="-122"/>
              </a:rPr>
              <a:t>→</a:t>
            </a:r>
            <a:endParaRPr sz="1600" b="0">
              <a:solidFill>
                <a:srgbClr val="B9861F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06640" y="160020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520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练</a:t>
            </a:r>
            <a:endParaRPr sz="2520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00800" y="242316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606040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百题坊</a:t>
            </a:r>
            <a:endParaRPr sz="1500" b="1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37960" y="3063240"/>
            <a:ext cx="2331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选择/默写/句读/听写</a:t>
            </a:r>
            <a:endParaRPr sz="11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ctr">
              <a:lnSpc>
                <a:spcPct val="140000"/>
              </a:lnSpc>
            </a:pPr>
            <a:r>
              <a:rPr sz="11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错题自动收录</a:t>
            </a:r>
            <a:endParaRPr sz="11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ctr">
              <a:lnSpc>
                <a:spcPct val="140000"/>
              </a:lnSpc>
            </a:pPr>
            <a:r>
              <a:rPr sz="11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二刷答对销账</a:t>
            </a:r>
            <a:endParaRPr sz="11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06840" y="3291840"/>
            <a:ext cx="2926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B9861F"/>
                </a:solidFill>
                <a:latin typeface="楷体" panose="02010609060101010101" charset="-122"/>
                <a:ea typeface="楷体" panose="02010609060101010101" charset="-122"/>
              </a:rPr>
              <a:t>→</a:t>
            </a:r>
            <a:endParaRPr sz="1600" b="0">
              <a:solidFill>
                <a:srgbClr val="B9861F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0286999" y="160020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520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览</a:t>
            </a:r>
            <a:endParaRPr sz="2520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281159" y="242316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59" y="2606040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文脉图鉴</a:t>
            </a:r>
            <a:endParaRPr sz="1500" b="1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418319" y="3063240"/>
            <a:ext cx="2331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七作者时空轴</a:t>
            </a:r>
            <a:endParaRPr sz="11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ctr">
              <a:lnSpc>
                <a:spcPct val="140000"/>
              </a:lnSpc>
            </a:pPr>
            <a:r>
              <a:rPr sz="11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六意象跨篇图谱</a:t>
            </a:r>
            <a:endParaRPr sz="11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ctr">
              <a:lnSpc>
                <a:spcPct val="140000"/>
              </a:lnSpc>
            </a:pPr>
            <a:r>
              <a:rPr sz="11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意象收集入藏</a:t>
            </a:r>
            <a:endParaRPr sz="11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40080" y="5120640"/>
            <a:ext cx="10972800" cy="960120"/>
          </a:xfrm>
          <a:prstGeom prst="roundRect">
            <a:avLst>
              <a:gd name="adj" fmla="val 6000"/>
            </a:avLst>
          </a:prstGeom>
          <a:solidFill>
            <a:srgbClr val="241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321808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6D98B"/>
                </a:solidFill>
                <a:latin typeface="楷体" panose="02010609060101010101" charset="-122"/>
                <a:ea typeface="楷体" panose="02010609060101010101" charset="-122"/>
              </a:rPr>
              <a:t>意象收集系统贯穿全程：完成学习目标 → 稀有装备式获得仪式 → 卡片入藏图鉴</a:t>
            </a:r>
            <a:endParaRPr sz="1400" b="1">
              <a:solidFill>
                <a:srgbClr val="F6D98B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09</a:t>
            </a:r>
            <a:endParaRPr sz="1800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核心功能 ① · 七篇像素冒险游戏</a:t>
            </a:r>
            <a:endParaRPr sz="2600" b="1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8686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A6220"/>
                </a:solidFill>
                <a:latin typeface="楷体" panose="02010609060101010101" charset="-122"/>
                <a:ea typeface="楷体" panose="02010609060101010101" charset="-122"/>
              </a:rPr>
              <a:t>把课文叙事空间做成可走进的世界</a:t>
            </a:r>
            <a:endParaRPr sz="1250" b="0">
              <a:solidFill>
                <a:srgbClr val="8A62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4630"/>
          </a:xfrm>
          <a:prstGeom prst="rect">
            <a:avLst/>
          </a:prstGeom>
          <a:solidFill>
            <a:srgbClr val="CA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《小石潭记》《桃花源记》《陋室铭》《爱莲说》《记承天寺夜游》《三峡》《答谢中书书》</a:t>
            </a:r>
            <a:endParaRPr sz="1300" b="1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956815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874519"/>
            <a:ext cx="5303520" cy="8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场景探索：Canvas 2D 像素渲染，480×270 逻辑分辨率 2 倍高清化，60fps 主循环</a:t>
            </a:r>
            <a:endParaRPr sz="1250" b="0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" y="2688335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606039"/>
            <a:ext cx="5303520" cy="8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点亮句读：点击发光热点逐句学习——正音朗读 → 释义知识卡 → 句读判定</a:t>
            </a:r>
            <a:endParaRPr sz="1250" b="0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02920" y="3419855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337559"/>
            <a:ext cx="5303520" cy="8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场景往返：每幕左右出口箭头自由往返，已点亮进度跨场景保留</a:t>
            </a:r>
            <a:endParaRPr sz="1250" b="0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2920" y="4151375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4069079"/>
            <a:ext cx="5303520" cy="8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闯关考试：「先生问」选择题闯关，答错即时讲解，全对触发朱印卷轴结局</a:t>
            </a:r>
            <a:endParaRPr sz="1250" b="0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355080" y="1737360"/>
            <a:ext cx="51206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gam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783080"/>
            <a:ext cx="5029200" cy="2834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55080" y="4709159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《小石潭记》游戏场景：竹林 · 潭水 · 热点句读</a:t>
            </a:r>
            <a:endParaRPr sz="110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0" y="4983480"/>
            <a:ext cx="5029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8A6220"/>
                </a:solidFill>
                <a:latin typeface="楷体" panose="02010609060101010101" charset="-122"/>
                <a:ea typeface="楷体" panose="02010609060101010101" charset="-122"/>
              </a:rPr>
              <a:t>技术要点：热点系统 / 对话框打字机 / 场景状态机 / 像素角色八方向移动 / Web Audio 环境音效</a:t>
            </a:r>
            <a:endParaRPr sz="1100" b="0">
              <a:solidFill>
                <a:srgbClr val="8A62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10</a:t>
            </a:r>
            <a:endParaRPr sz="1800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核心功能 ②③ · 百题坊与文脉图鉴</a:t>
            </a:r>
            <a:endParaRPr sz="2600" b="1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8686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A6220"/>
                </a:solidFill>
                <a:latin typeface="楷体" panose="02010609060101010101" charset="-122"/>
                <a:ea typeface="楷体" panose="02010609060101010101" charset="-122"/>
              </a:rPr>
              <a:t>练中固 · 览中通</a:t>
            </a:r>
            <a:endParaRPr sz="1250" b="0">
              <a:solidFill>
                <a:srgbClr val="8A62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4630"/>
          </a:xfrm>
          <a:prstGeom prst="rect">
            <a:avLst/>
          </a:prstGeom>
          <a:solidFill>
            <a:srgbClr val="CA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百题坊 · 跨篇练习场</a:t>
            </a:r>
            <a:endParaRPr sz="1500" b="1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5029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四种题型：选择 / 默写 / 句读 / 听写</a:t>
            </a:r>
            <a:endParaRPr sz="120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错题自动收录进错题本，答对即销账</a:t>
            </a:r>
            <a:endParaRPr sz="120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错题二刷机制，形成「错—练—会」闭环</a:t>
            </a:r>
            <a:endParaRPr sz="120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3794760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93192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文脉图鉴 · 跨篇知识图谱</a:t>
            </a:r>
            <a:endParaRPr sz="1500" b="1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5029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七位作者的千年文脉时空轴，点朱印观其人听其句</a:t>
            </a:r>
            <a:endParaRPr sz="120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六意象卡（月/水/莲/桃源/山/猿声）跨篇呼应</a:t>
            </a:r>
            <a:endParaRPr sz="120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未醒/半醒/已醒三态，导引回卷复读</a:t>
            </a:r>
            <a:endParaRPr sz="120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263640" y="1508760"/>
            <a:ext cx="53035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enma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554480"/>
            <a:ext cx="5212080" cy="29260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63640" y="457200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文脉图鉴：意象卡与已藏金印</a:t>
            </a:r>
            <a:endParaRPr sz="110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63640" y="466344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t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4709160"/>
            <a:ext cx="2514600" cy="1417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63640" y="6217920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百题坊</a:t>
            </a:r>
            <a:endParaRPr sz="110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006840" y="4663440"/>
            <a:ext cx="2560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m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4709160"/>
            <a:ext cx="2468880" cy="1417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006840" y="621792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我的书案</a:t>
            </a:r>
            <a:endParaRPr sz="110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11</a:t>
            </a:r>
            <a:endParaRPr sz="1800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核心功能 ④ · 文脉意象收集系统</a:t>
            </a:r>
            <a:endParaRPr sz="2600" b="1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8686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A6220"/>
                </a:solidFill>
                <a:latin typeface="楷体" panose="02010609060101010101" charset="-122"/>
                <a:ea typeface="楷体" panose="02010609060101010101" charset="-122"/>
              </a:rPr>
              <a:t>游戏化获得仪式 · 强化学习获得感</a:t>
            </a:r>
            <a:endParaRPr sz="1250" b="0">
              <a:solidFill>
                <a:srgbClr val="8A62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4630"/>
          </a:xfrm>
          <a:prstGeom prst="rect">
            <a:avLst/>
          </a:prstGeom>
          <a:solidFill>
            <a:srgbClr val="CA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59" y="1508760"/>
            <a:ext cx="4937759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y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4846320" cy="2743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59" y="4389120"/>
            <a:ext cx="49377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意象获得卡：稀有度徽章 + 朱印「藏」</a:t>
            </a:r>
            <a:endParaRPr sz="110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760720" y="1728216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16752" y="1645920"/>
            <a:ext cx="55778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触发时机：完成整篇闯关（学习目标达成）即刻触发</a:t>
            </a:r>
            <a:endParaRPr sz="1250" b="0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760720" y="2404872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16752" y="2322576"/>
            <a:ext cx="55778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获得仪式：旋转金光 + 三段递进音效（光韵→宫商角徵羽→钟磬）+ 卡片盖章弹出</a:t>
            </a:r>
            <a:endParaRPr sz="1250" b="0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60720" y="3081528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16752" y="2999232"/>
            <a:ext cx="55778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稀有度体系：逸品 / 极品 / 神品 / 孤品（书画品鉴等级命名）</a:t>
            </a:r>
            <a:endParaRPr sz="1250" b="0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60720" y="3758184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16752" y="3675888"/>
            <a:ext cx="55778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队列状态机：一篇触发多张时逐张展示，不堆叠</a:t>
            </a:r>
            <a:endParaRPr sz="1250" b="0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760720" y="4434840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16752" y="4352544"/>
            <a:ext cx="55778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入藏沉淀：卡片统一入藏文脉图鉴，盖金印+日期，书案显示「意象入藏 x/6」</a:t>
            </a:r>
            <a:endParaRPr sz="1250" b="0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760720" y="5111496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16752" y="5029200"/>
            <a:ext cx="55778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零侵入集成：包装 PROG.finish 挂载，不改原游戏逻辑，功能异常互不影响</a:t>
            </a:r>
            <a:endParaRPr sz="1250" b="0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12</a:t>
            </a:r>
            <a:endParaRPr sz="1800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关键技术栈</a:t>
            </a:r>
            <a:endParaRPr sz="2600" b="1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8686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A6220"/>
                </a:solidFill>
                <a:latin typeface="楷体" panose="02010609060101010101" charset="-122"/>
                <a:ea typeface="楷体" panose="02010609060101010101" charset="-122"/>
              </a:rPr>
              <a:t>零框架依赖 · 浏览器原生能力深挖</a:t>
            </a:r>
            <a:endParaRPr sz="1250" b="0">
              <a:solidFill>
                <a:srgbClr val="8A62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4630"/>
          </a:xfrm>
          <a:prstGeom prst="rect">
            <a:avLst/>
          </a:prstGeom>
          <a:solidFill>
            <a:srgbClr val="CA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3566160" cy="45720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27632"/>
            <a:ext cx="3566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Canvas 2D</a:t>
            </a:r>
            <a:endParaRPr sz="1450" b="1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2121408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像素游戏渲染</a:t>
            </a:r>
            <a:endParaRPr sz="120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2x 高清化 · 60fps</a:t>
            </a:r>
            <a:endParaRPr sz="120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43400" y="155448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3400" y="1554480"/>
            <a:ext cx="3566160" cy="457200"/>
          </a:xfrm>
          <a:prstGeom prst="roundRect">
            <a:avLst>
              <a:gd name="adj" fmla="val 6000"/>
            </a:avLst>
          </a:prstGeom>
          <a:solidFill>
            <a:srgbClr val="8A6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627632"/>
            <a:ext cx="3566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Web Speech API</a:t>
            </a:r>
            <a:endParaRPr sz="1450" b="1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26280" y="2121408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真人感朗读引擎</a:t>
            </a:r>
            <a:endParaRPr sz="120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声线优选·句读停顿</a:t>
            </a:r>
            <a:endParaRPr sz="120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183880" y="155448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3880" y="1554480"/>
            <a:ext cx="3566160" cy="45720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1627632"/>
            <a:ext cx="3566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Web Audio API</a:t>
            </a:r>
            <a:endParaRPr sz="1450" b="1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66760" y="2121408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音效合成</a:t>
            </a:r>
            <a:endParaRPr sz="120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宫商角徵羽仪式乐</a:t>
            </a:r>
            <a:endParaRPr sz="120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02920" y="338328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3383280"/>
            <a:ext cx="3566160" cy="457200"/>
          </a:xfrm>
          <a:prstGeom prst="roundRect">
            <a:avLst>
              <a:gd name="adj" fmla="val 6000"/>
            </a:avLst>
          </a:prstGeom>
          <a:solidFill>
            <a:srgbClr val="8A6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456432"/>
            <a:ext cx="3566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localStorage</a:t>
            </a:r>
            <a:endParaRPr sz="1450" b="1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3950208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进度/意象本地存储</a:t>
            </a:r>
            <a:endParaRPr sz="120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断网单机可用</a:t>
            </a:r>
            <a:endParaRPr sz="120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343400" y="338328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43400" y="3383280"/>
            <a:ext cx="3566160" cy="45720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3456432"/>
            <a:ext cx="3566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Python 标准库</a:t>
            </a:r>
            <a:endParaRPr sz="1450" b="1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26280" y="3950208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轻后端 server.py</a:t>
            </a:r>
            <a:endParaRPr sz="120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注册/学分/云同步</a:t>
            </a:r>
            <a:endParaRPr sz="120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183880" y="338328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83880" y="3383280"/>
            <a:ext cx="3566160" cy="457200"/>
          </a:xfrm>
          <a:prstGeom prst="roundRect">
            <a:avLst>
              <a:gd name="adj" fmla="val 6000"/>
            </a:avLst>
          </a:prstGeom>
          <a:solidFill>
            <a:srgbClr val="8A6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80" y="3456432"/>
            <a:ext cx="3566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单文件打包</a:t>
            </a:r>
            <a:endParaRPr sz="1450" b="1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66760" y="3950208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srcdoc iframe 路由</a:t>
            </a:r>
            <a:endParaRPr sz="120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897KB 微信即开</a:t>
            </a:r>
            <a:endParaRPr sz="120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02920" y="54406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架构原则：能原生不引入、能降级不报错、能单文件不依赖——任何环境下核心学习功能完整可用</a:t>
            </a:r>
            <a:endParaRPr sz="1350" b="1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13</a:t>
            </a:r>
            <a:endParaRPr sz="1800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创新点</a:t>
            </a:r>
            <a:endParaRPr sz="2600" b="1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8686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A6220"/>
                </a:solidFill>
                <a:latin typeface="楷体" panose="02010609060101010101" charset="-122"/>
                <a:ea typeface="楷体" panose="02010609060101010101" charset="-122"/>
              </a:rPr>
              <a:t>四项差异化设计</a:t>
            </a:r>
            <a:endParaRPr sz="1250" b="0">
              <a:solidFill>
                <a:srgbClr val="8A62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4630"/>
          </a:xfrm>
          <a:prstGeom prst="rect">
            <a:avLst/>
          </a:prstGeom>
          <a:solidFill>
            <a:srgbClr val="CA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709928"/>
            <a:ext cx="402336" cy="402336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85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壹</a:t>
            </a:r>
            <a:endParaRPr sz="1585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80160" y="1728216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叙事空间游戏化</a:t>
            </a:r>
            <a:endParaRPr sz="1550" b="1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49377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首次将课文叙事空间（小石潭/桃花源/承天寺）1:1 重构为可探索像素场景，阅读即亲历</a:t>
            </a:r>
            <a:endParaRPr sz="120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17920" y="1508760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19088" y="1709928"/>
            <a:ext cx="402336" cy="402336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85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贰</a:t>
            </a:r>
            <a:endParaRPr sz="1585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95159" y="1728216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朗读引擎真人化</a:t>
            </a:r>
            <a:endParaRPr sz="1550" b="1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49377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声线优选打分 + 句读停顿 + 标点语调 + 教材级正音替换四重策略，解决 TTS 古文朗读机械与误读</a:t>
            </a:r>
            <a:endParaRPr sz="120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3749039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4088" y="3950207"/>
            <a:ext cx="402336" cy="402336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85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叁</a:t>
            </a:r>
            <a:endParaRPr sz="1585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80160" y="3968496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意象收集仪式化</a:t>
            </a:r>
            <a:endParaRPr sz="1550" b="1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" y="4526279"/>
            <a:ext cx="49377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稀有装备式获得仪式（音效三段递进+盖章动画）嫁接文脉意象教学，抽象概念具象为收藏成就感</a:t>
            </a:r>
            <a:endParaRPr sz="120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17920" y="3749039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19088" y="3950207"/>
            <a:ext cx="402336" cy="402336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85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肆</a:t>
            </a:r>
            <a:endParaRPr sz="1585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95159" y="3968496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分发形态单文件化</a:t>
            </a:r>
            <a:endParaRPr sz="1550" b="1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92240" y="4526279"/>
            <a:ext cx="49377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整站 12 页打包为一个 &lt;1MB HTML，srcdoc iframe 隔离作用域+hash 路由+存储代理，微信转发即用</a:t>
            </a:r>
            <a:endParaRPr sz="120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14</a:t>
            </a:r>
            <a:endParaRPr sz="1800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系统演示（一）</a:t>
            </a:r>
            <a:endParaRPr sz="2600" b="1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8686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A6220"/>
                </a:solidFill>
                <a:latin typeface="楷体" panose="02010609060101010101" charset="-122"/>
                <a:ea typeface="楷体" panose="02010609060101010101" charset="-122"/>
              </a:rPr>
              <a:t>书阁首页 · 游戏场景 · 意象仪式</a:t>
            </a:r>
            <a:endParaRPr sz="1250" b="0">
              <a:solidFill>
                <a:srgbClr val="8A62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4630"/>
          </a:xfrm>
          <a:prstGeom prst="rect">
            <a:avLst/>
          </a:prstGeom>
          <a:solidFill>
            <a:srgbClr val="CA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188720" cy="264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endParaRPr sz="900" b="0">
              <a:solidFill>
                <a:srgbClr val="8A62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4864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om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5394960" cy="3017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6634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首页：宣纸国风卷轴画廊 · 七卷可展</a:t>
            </a:r>
            <a:endParaRPr sz="110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26480" y="1508760"/>
            <a:ext cx="54864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554480"/>
            <a:ext cx="539496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26480" y="46634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像素冒险：场景探索与句读点亮</a:t>
            </a:r>
            <a:endParaRPr sz="110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971800" y="4754880"/>
            <a:ext cx="6217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y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4800600"/>
            <a:ext cx="6126480" cy="1600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971800" y="649224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意象获得仪式：稀有度卡片 + 朱印入藏</a:t>
            </a:r>
            <a:endParaRPr sz="110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15</a:t>
            </a:r>
            <a:endParaRPr sz="1800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测试结果与性能分析</a:t>
            </a:r>
            <a:endParaRPr sz="2600" b="1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8686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A6220"/>
                </a:solidFill>
                <a:latin typeface="楷体" panose="02010609060101010101" charset="-122"/>
                <a:ea typeface="楷体" panose="02010609060101010101" charset="-122"/>
              </a:rPr>
              <a:t>功能测试 · 兼容性 · 性能实测</a:t>
            </a:r>
            <a:endParaRPr sz="1250" b="0">
              <a:solidFill>
                <a:srgbClr val="8A62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4630"/>
          </a:xfrm>
          <a:prstGeom prst="rect">
            <a:avLst/>
          </a:prstGeom>
          <a:solidFill>
            <a:srgbClr val="CA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11201400" cy="228600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功能与兼容性测试</a:t>
            </a:r>
            <a:endParaRPr sz="1500" b="1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10607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· 浏览器自动化全链路测试：七篇游戏场景往返、句读点亮、闯关考试、意象仪式、图鉴入藏 —— 全部通过</a:t>
            </a:r>
            <a:endParaRPr sz="120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· 朗读引擎：分句停顿/问号语调/正音替换/停止恢复逐项核对通过，多声线（Edge 神经网络/Chrome 本地）自适应</a:t>
            </a:r>
            <a:endParaRPr sz="120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· 登录系统：注册/登录/游客三态 + 后端离线本地建账降级，实测通过；Edge / Chrome / 移动端触屏兼容</a:t>
            </a:r>
            <a:endParaRPr sz="120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4023360"/>
            <a:ext cx="2651760" cy="160020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16052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整站体积</a:t>
            </a:r>
            <a:endParaRPr sz="12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448056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897KB</a:t>
            </a:r>
            <a:endParaRPr sz="2400" b="1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512064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8A6220"/>
                </a:solidFill>
                <a:latin typeface="楷体" panose="02010609060101010101" charset="-122"/>
                <a:ea typeface="楷体" panose="02010609060101010101" charset="-122"/>
              </a:rPr>
              <a:t>单文件版，微信即开</a:t>
            </a:r>
            <a:endParaRPr sz="1050" b="0">
              <a:solidFill>
                <a:srgbClr val="8A62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374136" y="4023360"/>
            <a:ext cx="2651760" cy="160020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4136" y="416052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首屏加载</a:t>
            </a:r>
            <a:endParaRPr sz="12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374136" y="448056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&lt;1s</a:t>
            </a:r>
            <a:endParaRPr sz="2400" b="1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374136" y="512064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8A6220"/>
                </a:solidFill>
                <a:latin typeface="楷体" panose="02010609060101010101" charset="-122"/>
                <a:ea typeface="楷体" panose="02010609060101010101" charset="-122"/>
              </a:rPr>
              <a:t>本地环境</a:t>
            </a:r>
            <a:endParaRPr sz="1050" b="0">
              <a:solidFill>
                <a:srgbClr val="8A62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45352" y="4023360"/>
            <a:ext cx="2651760" cy="160020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416052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游戏帧率</a:t>
            </a:r>
            <a:endParaRPr sz="12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45352" y="448056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60fps</a:t>
            </a:r>
            <a:endParaRPr sz="2400" b="1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45352" y="512064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8A6220"/>
                </a:solidFill>
                <a:latin typeface="楷体" panose="02010609060101010101" charset="-122"/>
                <a:ea typeface="楷体" panose="02010609060101010101" charset="-122"/>
              </a:rPr>
              <a:t>Canvas 主循环</a:t>
            </a:r>
            <a:endParaRPr sz="1050" b="0">
              <a:solidFill>
                <a:srgbClr val="8A62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116568" y="4023360"/>
            <a:ext cx="2651760" cy="160020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16568" y="416052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朗读延迟</a:t>
            </a:r>
            <a:endParaRPr sz="12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16568" y="448056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150ms</a:t>
            </a:r>
            <a:endParaRPr sz="2400" b="1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16568" y="512064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8A6220"/>
                </a:solidFill>
                <a:latin typeface="楷体" panose="02010609060101010101" charset="-122"/>
                <a:ea typeface="楷体" panose="02010609060101010101" charset="-122"/>
              </a:rPr>
              <a:t>句间停顿下限</a:t>
            </a:r>
            <a:endParaRPr sz="1050" b="0">
              <a:solidFill>
                <a:srgbClr val="8A62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02920" y="58521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5A4A38"/>
                </a:solidFill>
                <a:latin typeface="楷体" panose="02010609060101010101" charset="-122"/>
                <a:ea typeface="楷体" panose="02010609060101010101" charset="-122"/>
              </a:rPr>
              <a:t>缺陷修复闭环：箭头几何 / 朗读吞音 / 冻结等 20+ 问题均定位根因并回归验证</a:t>
            </a:r>
            <a:endParaRPr sz="1250" b="0">
              <a:solidFill>
                <a:srgbClr val="5A4A38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2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16</a:t>
            </a:r>
            <a:endParaRPr sz="1800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47472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总结与展望</a:t>
            </a:r>
            <a:endParaRPr sz="2600" b="1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11183112" cy="14630"/>
          </a:xfrm>
          <a:prstGeom prst="rect">
            <a:avLst/>
          </a:prstGeom>
          <a:solidFill>
            <a:srgbClr val="CA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5440680" cy="393192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10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结</a:t>
            </a:r>
            <a:endParaRPr sz="1510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80160" y="1719072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工作总结</a:t>
            </a:r>
            <a:endParaRPr sz="1600" b="1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7240" y="2322576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240280"/>
            <a:ext cx="4663440" cy="8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完成 12 页面、7 款像素游戏、4 类题型的完整学习平台</a:t>
            </a:r>
            <a:endParaRPr sz="1250" b="0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77240" y="3054096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2971800"/>
            <a:ext cx="46634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构建「读—玩—练—览」闭环与意象收集激励体系</a:t>
            </a:r>
            <a:endParaRPr sz="1250" b="0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3465576"/>
            <a:ext cx="46634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实现零依赖 + 三形态部署 + 优雅降级架构</a:t>
            </a:r>
            <a:endParaRPr sz="1250" b="0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63640" y="1463040"/>
            <a:ext cx="5440680" cy="3931920"/>
          </a:xfrm>
          <a:prstGeom prst="roundRect">
            <a:avLst>
              <a:gd name="adj" fmla="val 6000"/>
            </a:avLst>
          </a:prstGeom>
          <a:solidFill>
            <a:srgbClr val="FBF3DC"/>
          </a:solidFill>
          <a:ln w="12700">
            <a:solidFill>
              <a:srgbClr val="CA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37960" y="1691640"/>
            <a:ext cx="384048" cy="384048"/>
          </a:xfrm>
          <a:prstGeom prst="roundRect">
            <a:avLst>
              <a:gd name="adj" fmla="val 6000"/>
            </a:avLst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10">
                <a:solidFill>
                  <a:srgbClr val="FBF3DC"/>
                </a:solidFill>
                <a:latin typeface="楷体" panose="02010609060101010101" charset="-122"/>
                <a:ea typeface="楷体" panose="02010609060101010101" charset="-122"/>
              </a:rPr>
              <a:t>望</a:t>
            </a:r>
            <a:endParaRPr sz="1510">
              <a:solidFill>
                <a:srgbClr val="FBF3D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40880" y="1719072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A8412E"/>
                </a:solidFill>
                <a:latin typeface="楷体" panose="02010609060101010101" charset="-122"/>
                <a:ea typeface="楷体" panose="02010609060101010101" charset="-122"/>
              </a:rPr>
              <a:t>未来展望</a:t>
            </a:r>
            <a:endParaRPr sz="1600" b="1">
              <a:solidFill>
                <a:srgbClr val="A8412E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537960" y="2322576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93992" y="2240280"/>
            <a:ext cx="46634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篇目扩充：追加《岳阳楼记》《醉翁亭记》等新卷</a:t>
            </a:r>
            <a:endParaRPr sz="1250" b="0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537960" y="2816352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93992" y="2734056"/>
            <a:ext cx="46634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AI 助学：接入大模型生成个性化讲解与变式题</a:t>
            </a:r>
            <a:endParaRPr sz="1250" b="0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537960" y="3310128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93992" y="3227832"/>
            <a:ext cx="46634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班级协同：教师端布置任务、查看学情报表</a:t>
            </a:r>
            <a:endParaRPr sz="1250" b="0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537960" y="3803904"/>
            <a:ext cx="91440" cy="91440"/>
          </a:xfrm>
          <a:prstGeom prst="rect">
            <a:avLst/>
          </a:prstGeom>
          <a:solidFill>
            <a:srgbClr val="A84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93992" y="3721608"/>
            <a:ext cx="46634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E2820"/>
                </a:solidFill>
                <a:latin typeface="楷体" panose="02010609060101010101" charset="-122"/>
                <a:ea typeface="楷体" panose="02010609060101010101" charset="-122"/>
              </a:rPr>
              <a:t>数据挖掘：基于错题与足迹的学习路径推荐</a:t>
            </a:r>
            <a:endParaRPr sz="1250" b="0">
              <a:solidFill>
                <a:srgbClr val="2E282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02920" y="5623560"/>
            <a:ext cx="11201400" cy="685800"/>
          </a:xfrm>
          <a:prstGeom prst="roundRect">
            <a:avLst>
              <a:gd name="adj" fmla="val 6000"/>
            </a:avLst>
          </a:prstGeom>
          <a:solidFill>
            <a:srgbClr val="241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779008"/>
            <a:ext cx="11201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6D98B"/>
                </a:solidFill>
                <a:latin typeface="楷体" panose="02010609060101010101" charset="-122"/>
                <a:ea typeface="楷体" panose="02010609060101010101" charset="-122"/>
              </a:rPr>
              <a:t>恳请各位老师批评指正 · 谢谢！</a:t>
            </a:r>
            <a:endParaRPr sz="1700" b="1">
              <a:solidFill>
                <a:srgbClr val="F6D98B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3570</Words>
  <Application>WPS 演示</Application>
  <PresentationFormat>On-screen Show (4:3)</PresentationFormat>
  <Paragraphs>473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宋体</vt:lpstr>
      <vt:lpstr>Wingdings</vt:lpstr>
      <vt:lpstr>Arial</vt:lpstr>
      <vt:lpstr>楷体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.</cp:lastModifiedBy>
  <cp:revision>2</cp:revision>
  <dcterms:created xsi:type="dcterms:W3CDTF">2013-01-27T09:14:00Z</dcterms:created>
  <dcterms:modified xsi:type="dcterms:W3CDTF">2026-10-10T11:37:48Z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DA934F7DE81D4CE09E37B78E790741BA_13</vt:lpwstr>
  </property>
</Properties>
</file>